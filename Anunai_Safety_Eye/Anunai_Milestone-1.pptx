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90" r:id="rId2"/>
    <p:sldId id="291" r:id="rId3"/>
    <p:sldId id="295" r:id="rId4"/>
    <p:sldId id="296" r:id="rId5"/>
    <p:sldId id="297" r:id="rId6"/>
    <p:sldId id="293" r:id="rId7"/>
    <p:sldId id="294" r:id="rId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946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666E37-9F6B-4C0A-82DB-E62805B3FC9E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E294DE-4654-4BEB-95AA-91BC4CE27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8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7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21868" y="1657934"/>
            <a:ext cx="6899909" cy="6615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50" b="1" i="1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18283555" cy="10287000"/>
          </a:xfrm>
          <a:custGeom>
            <a:avLst/>
            <a:gdLst/>
            <a:ahLst/>
            <a:cxnLst/>
            <a:rect l="l" t="t" r="r" b="b"/>
            <a:pathLst>
              <a:path w="18283555" h="10287000">
                <a:moveTo>
                  <a:pt x="18283555" y="0"/>
                </a:moveTo>
                <a:lnTo>
                  <a:pt x="0" y="0"/>
                </a:lnTo>
                <a:lnTo>
                  <a:pt x="0" y="10287000"/>
                </a:lnTo>
                <a:lnTo>
                  <a:pt x="18283555" y="10287000"/>
                </a:lnTo>
                <a:lnTo>
                  <a:pt x="18283555" y="0"/>
                </a:lnTo>
                <a:close/>
              </a:path>
            </a:pathLst>
          </a:custGeom>
          <a:solidFill>
            <a:srgbClr val="DED2C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4236" y="362153"/>
            <a:ext cx="15819526" cy="903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7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68042" y="2554605"/>
            <a:ext cx="13982700" cy="6205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0B7D29-56E3-28B3-0029-2F027F2CF4BD}"/>
              </a:ext>
            </a:extLst>
          </p:cNvPr>
          <p:cNvSpPr txBox="1"/>
          <p:nvPr/>
        </p:nvSpPr>
        <p:spPr>
          <a:xfrm>
            <a:off x="2743200" y="3195905"/>
            <a:ext cx="12801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latin typeface="Algerian" panose="04020705040A02060702" pitchFamily="82" charset="0"/>
              </a:rPr>
              <a:t>Construction Site Safety – Full Project Report</a:t>
            </a:r>
            <a:endParaRPr lang="en-IN" sz="6000" dirty="0">
              <a:latin typeface="Algerian" panose="04020705040A02060702" pitchFamily="82" charset="0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41F15BFC-636E-7AA3-FE06-40416412EAAE}"/>
              </a:ext>
            </a:extLst>
          </p:cNvPr>
          <p:cNvSpPr/>
          <p:nvPr/>
        </p:nvSpPr>
        <p:spPr>
          <a:xfrm>
            <a:off x="0" y="-39329"/>
            <a:ext cx="2286000" cy="10287000"/>
          </a:xfrm>
          <a:custGeom>
            <a:avLst/>
            <a:gdLst/>
            <a:ahLst/>
            <a:cxnLst/>
            <a:rect l="l" t="t" r="r" b="b"/>
            <a:pathLst>
              <a:path w="3642995" h="10287000">
                <a:moveTo>
                  <a:pt x="3642614" y="0"/>
                </a:moveTo>
                <a:lnTo>
                  <a:pt x="0" y="0"/>
                </a:lnTo>
                <a:lnTo>
                  <a:pt x="0" y="10287000"/>
                </a:lnTo>
                <a:lnTo>
                  <a:pt x="3642614" y="10287000"/>
                </a:lnTo>
                <a:lnTo>
                  <a:pt x="3642614" y="0"/>
                </a:lnTo>
                <a:close/>
              </a:path>
            </a:pathLst>
          </a:custGeom>
          <a:solidFill>
            <a:srgbClr val="DED2C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61FA6744-8520-6A7F-1DA4-C8AEB9EC02B4}"/>
              </a:ext>
            </a:extLst>
          </p:cNvPr>
          <p:cNvSpPr/>
          <p:nvPr/>
        </p:nvSpPr>
        <p:spPr>
          <a:xfrm>
            <a:off x="15697200" y="-8603"/>
            <a:ext cx="2590799" cy="10287000"/>
          </a:xfrm>
          <a:custGeom>
            <a:avLst/>
            <a:gdLst/>
            <a:ahLst/>
            <a:cxnLst/>
            <a:rect l="l" t="t" r="r" b="b"/>
            <a:pathLst>
              <a:path w="3642995" h="10287000">
                <a:moveTo>
                  <a:pt x="3642614" y="0"/>
                </a:moveTo>
                <a:lnTo>
                  <a:pt x="0" y="0"/>
                </a:lnTo>
                <a:lnTo>
                  <a:pt x="0" y="10287000"/>
                </a:lnTo>
                <a:lnTo>
                  <a:pt x="3642614" y="10287000"/>
                </a:lnTo>
                <a:lnTo>
                  <a:pt x="3642614" y="0"/>
                </a:lnTo>
                <a:close/>
              </a:path>
            </a:pathLst>
          </a:custGeom>
          <a:solidFill>
            <a:srgbClr val="DED2C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10813-5697-5E9B-F8F4-ED7A72BEBE43}"/>
              </a:ext>
            </a:extLst>
          </p:cNvPr>
          <p:cNvSpPr txBox="1"/>
          <p:nvPr/>
        </p:nvSpPr>
        <p:spPr>
          <a:xfrm>
            <a:off x="6019800" y="5524500"/>
            <a:ext cx="9296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Infosys Presentation • EDA • YOLOv8 Detection • Final Code &amp; Outputs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985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B8BB08-9B7A-F46B-DFDA-5B5F22AE4CCD}"/>
              </a:ext>
            </a:extLst>
          </p:cNvPr>
          <p:cNvSpPr txBox="1"/>
          <p:nvPr/>
        </p:nvSpPr>
        <p:spPr>
          <a:xfrm>
            <a:off x="1905000" y="1790700"/>
            <a:ext cx="14706600" cy="7679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projects involve high-risk activities such as working at heights, operating heavy machines, and handling hazardous materials.</a:t>
            </a:r>
          </a:p>
          <a:p>
            <a:pPr marL="571500" indent="-5715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site accidents occur because workers fail to wear essential safety gear.</a:t>
            </a:r>
          </a:p>
          <a:p>
            <a:pPr marL="571500" indent="-5715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build an automated system that identifies workers and checks whether they follow PPE guidelines.</a:t>
            </a:r>
          </a:p>
          <a:p>
            <a:pPr marL="571500" indent="-5715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improve workplace safety and support real-time monitoring.</a:t>
            </a:r>
          </a:p>
        </p:txBody>
      </p:sp>
      <p:sp>
        <p:nvSpPr>
          <p:cNvPr id="4" name="object 13">
            <a:extLst>
              <a:ext uri="{FF2B5EF4-FFF2-40B4-BE49-F238E27FC236}">
                <a16:creationId xmlns:a16="http://schemas.microsoft.com/office/drawing/2014/main" id="{61B0C3AE-40B9-F444-BDF1-78BB02DF78A7}"/>
              </a:ext>
            </a:extLst>
          </p:cNvPr>
          <p:cNvSpPr txBox="1">
            <a:spLocks/>
          </p:cNvSpPr>
          <p:nvPr/>
        </p:nvSpPr>
        <p:spPr>
          <a:xfrm>
            <a:off x="2133600" y="437985"/>
            <a:ext cx="5486400" cy="843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sz="5400" spc="810" dirty="0" err="1">
                <a:latin typeface="Algerian" panose="04020705040A02060702" pitchFamily="82" charset="0"/>
                <a:cs typeface="Times New Roman" panose="02020603050405020304" pitchFamily="18" charset="0"/>
              </a:rPr>
              <a:t>i</a:t>
            </a:r>
            <a:r>
              <a:rPr lang="en-IN" sz="4800" spc="810" dirty="0" err="1">
                <a:latin typeface="Algerian" panose="04020705040A02060702" pitchFamily="82" charset="0"/>
                <a:cs typeface="Times New Roman" panose="02020603050405020304" pitchFamily="18" charset="0"/>
              </a:rPr>
              <a:t>ntroduction</a:t>
            </a:r>
            <a:endParaRPr lang="en-IN" sz="48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A1CA75D3-2210-A702-B0DD-04CC5040CAB5}"/>
              </a:ext>
            </a:extLst>
          </p:cNvPr>
          <p:cNvSpPr/>
          <p:nvPr/>
        </p:nvSpPr>
        <p:spPr>
          <a:xfrm>
            <a:off x="1" y="0"/>
            <a:ext cx="1676399" cy="10287000"/>
          </a:xfrm>
          <a:custGeom>
            <a:avLst/>
            <a:gdLst/>
            <a:ahLst/>
            <a:cxnLst/>
            <a:rect l="l" t="t" r="r" b="b"/>
            <a:pathLst>
              <a:path w="3642995" h="10287000">
                <a:moveTo>
                  <a:pt x="3642614" y="0"/>
                </a:moveTo>
                <a:lnTo>
                  <a:pt x="0" y="0"/>
                </a:lnTo>
                <a:lnTo>
                  <a:pt x="0" y="10287000"/>
                </a:lnTo>
                <a:lnTo>
                  <a:pt x="3642614" y="10287000"/>
                </a:lnTo>
                <a:lnTo>
                  <a:pt x="3642614" y="0"/>
                </a:lnTo>
                <a:close/>
              </a:path>
            </a:pathLst>
          </a:custGeom>
          <a:solidFill>
            <a:srgbClr val="DED2C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6AC62404-EE7E-1021-F90D-CEEEDA86F419}"/>
              </a:ext>
            </a:extLst>
          </p:cNvPr>
          <p:cNvSpPr/>
          <p:nvPr/>
        </p:nvSpPr>
        <p:spPr>
          <a:xfrm>
            <a:off x="16611600" y="0"/>
            <a:ext cx="1676399" cy="10401300"/>
          </a:xfrm>
          <a:custGeom>
            <a:avLst/>
            <a:gdLst/>
            <a:ahLst/>
            <a:cxnLst/>
            <a:rect l="l" t="t" r="r" b="b"/>
            <a:pathLst>
              <a:path w="3642995" h="10287000">
                <a:moveTo>
                  <a:pt x="3642614" y="0"/>
                </a:moveTo>
                <a:lnTo>
                  <a:pt x="0" y="0"/>
                </a:lnTo>
                <a:lnTo>
                  <a:pt x="0" y="10287000"/>
                </a:lnTo>
                <a:lnTo>
                  <a:pt x="3642614" y="10287000"/>
                </a:lnTo>
                <a:lnTo>
                  <a:pt x="3642614" y="0"/>
                </a:lnTo>
                <a:close/>
              </a:path>
            </a:pathLst>
          </a:custGeom>
          <a:solidFill>
            <a:srgbClr val="DED2C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529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2A52B217-D59A-75B2-95F3-462BD7264102}"/>
              </a:ext>
            </a:extLst>
          </p:cNvPr>
          <p:cNvSpPr/>
          <p:nvPr/>
        </p:nvSpPr>
        <p:spPr>
          <a:xfrm>
            <a:off x="1752600" y="1485899"/>
            <a:ext cx="14630400" cy="8538865"/>
          </a:xfrm>
          <a:custGeom>
            <a:avLst/>
            <a:gdLst/>
            <a:ahLst/>
            <a:cxnLst/>
            <a:rect l="l" t="t" r="r" b="b"/>
            <a:pathLst>
              <a:path w="16701135" h="7222490">
                <a:moveTo>
                  <a:pt x="16700754" y="0"/>
                </a:moveTo>
                <a:lnTo>
                  <a:pt x="0" y="0"/>
                </a:lnTo>
                <a:lnTo>
                  <a:pt x="0" y="7221982"/>
                </a:lnTo>
                <a:lnTo>
                  <a:pt x="16700754" y="7221982"/>
                </a:lnTo>
                <a:lnTo>
                  <a:pt x="16700754" y="0"/>
                </a:lnTo>
                <a:close/>
              </a:path>
            </a:pathLst>
          </a:custGeom>
          <a:solidFill>
            <a:srgbClr val="F0F0EB"/>
          </a:solidFill>
        </p:spPr>
        <p:txBody>
          <a:bodyPr wrap="square" lIns="0" tIns="0" rIns="0" bIns="0" rtlCol="0"/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consists of construction-site images with annotated PPE items.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Images include various lighting, angles, and real-world working conditions.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classes for detection include: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Helmet / Hardhat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Safety Vest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Face Mask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Helmet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Mask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Vest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 / Worker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Machinery and Equipment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9D9D514-B961-1177-7144-55811E139D77}"/>
              </a:ext>
            </a:extLst>
          </p:cNvPr>
          <p:cNvSpPr/>
          <p:nvPr/>
        </p:nvSpPr>
        <p:spPr>
          <a:xfrm>
            <a:off x="0" y="0"/>
            <a:ext cx="1600200" cy="10287000"/>
          </a:xfrm>
          <a:custGeom>
            <a:avLst/>
            <a:gdLst/>
            <a:ahLst/>
            <a:cxnLst/>
            <a:rect l="l" t="t" r="r" b="b"/>
            <a:pathLst>
              <a:path w="3642995" h="10287000">
                <a:moveTo>
                  <a:pt x="3642614" y="0"/>
                </a:moveTo>
                <a:lnTo>
                  <a:pt x="0" y="0"/>
                </a:lnTo>
                <a:lnTo>
                  <a:pt x="0" y="10287000"/>
                </a:lnTo>
                <a:lnTo>
                  <a:pt x="3642614" y="10287000"/>
                </a:lnTo>
                <a:lnTo>
                  <a:pt x="3642614" y="0"/>
                </a:lnTo>
                <a:close/>
              </a:path>
            </a:pathLst>
          </a:custGeom>
          <a:solidFill>
            <a:srgbClr val="DED2C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40E99DB-1610-84C1-2C39-AE965E9F9B34}"/>
              </a:ext>
            </a:extLst>
          </p:cNvPr>
          <p:cNvSpPr/>
          <p:nvPr/>
        </p:nvSpPr>
        <p:spPr>
          <a:xfrm>
            <a:off x="16535400" y="0"/>
            <a:ext cx="1752600" cy="10287000"/>
          </a:xfrm>
          <a:custGeom>
            <a:avLst/>
            <a:gdLst/>
            <a:ahLst/>
            <a:cxnLst/>
            <a:rect l="l" t="t" r="r" b="b"/>
            <a:pathLst>
              <a:path w="3642995" h="10287000">
                <a:moveTo>
                  <a:pt x="3642614" y="0"/>
                </a:moveTo>
                <a:lnTo>
                  <a:pt x="0" y="0"/>
                </a:lnTo>
                <a:lnTo>
                  <a:pt x="0" y="10287000"/>
                </a:lnTo>
                <a:lnTo>
                  <a:pt x="3642614" y="10287000"/>
                </a:lnTo>
                <a:lnTo>
                  <a:pt x="3642614" y="0"/>
                </a:lnTo>
                <a:close/>
              </a:path>
            </a:pathLst>
          </a:custGeom>
          <a:solidFill>
            <a:srgbClr val="DED2C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EFFE2A-12CE-3E97-DD7D-CF0655D2C5C6}"/>
              </a:ext>
            </a:extLst>
          </p:cNvPr>
          <p:cNvSpPr txBox="1"/>
          <p:nvPr/>
        </p:nvSpPr>
        <p:spPr>
          <a:xfrm>
            <a:off x="1981200" y="262235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5400" spc="810" dirty="0">
                <a:latin typeface="Algerian" panose="04020705040A02060702" pitchFamily="82" charset="0"/>
                <a:cs typeface="Times New Roman" panose="02020603050405020304" pitchFamily="18" charset="0"/>
              </a:rPr>
              <a:t>D</a:t>
            </a:r>
            <a:r>
              <a:rPr lang="en-IN" sz="5400" spc="810" dirty="0" err="1">
                <a:latin typeface="Algerian" panose="04020705040A02060702" pitchFamily="82" charset="0"/>
                <a:cs typeface="Times New Roman" panose="02020603050405020304" pitchFamily="18" charset="0"/>
              </a:rPr>
              <a:t>ata</a:t>
            </a:r>
            <a:r>
              <a:rPr lang="en-IN" sz="5400" spc="810" dirty="0">
                <a:latin typeface="Algerian" panose="04020705040A02060702" pitchFamily="82" charset="0"/>
                <a:cs typeface="Times New Roman" panose="02020603050405020304" pitchFamily="18" charset="0"/>
              </a:rPr>
              <a:t> overview</a:t>
            </a:r>
            <a:endParaRPr lang="en-IN" sz="54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492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DAE3328-F351-F881-6C8F-37FC0979E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1816679"/>
            <a:ext cx="11125200" cy="6653641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6153A384-CF7C-87E9-A305-BE8AB66544BD}"/>
              </a:ext>
            </a:extLst>
          </p:cNvPr>
          <p:cNvSpPr/>
          <p:nvPr/>
        </p:nvSpPr>
        <p:spPr>
          <a:xfrm>
            <a:off x="0" y="0"/>
            <a:ext cx="1600200" cy="10287000"/>
          </a:xfrm>
          <a:custGeom>
            <a:avLst/>
            <a:gdLst/>
            <a:ahLst/>
            <a:cxnLst/>
            <a:rect l="l" t="t" r="r" b="b"/>
            <a:pathLst>
              <a:path w="3642995" h="10287000">
                <a:moveTo>
                  <a:pt x="3642614" y="0"/>
                </a:moveTo>
                <a:lnTo>
                  <a:pt x="0" y="0"/>
                </a:lnTo>
                <a:lnTo>
                  <a:pt x="0" y="10287000"/>
                </a:lnTo>
                <a:lnTo>
                  <a:pt x="3642614" y="10287000"/>
                </a:lnTo>
                <a:lnTo>
                  <a:pt x="3642614" y="0"/>
                </a:lnTo>
                <a:close/>
              </a:path>
            </a:pathLst>
          </a:custGeom>
          <a:solidFill>
            <a:srgbClr val="DED2C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5FAAAFF1-4183-3A04-B138-3409316F0FA1}"/>
              </a:ext>
            </a:extLst>
          </p:cNvPr>
          <p:cNvSpPr/>
          <p:nvPr/>
        </p:nvSpPr>
        <p:spPr>
          <a:xfrm>
            <a:off x="16718280" y="0"/>
            <a:ext cx="1600200" cy="10309860"/>
          </a:xfrm>
          <a:custGeom>
            <a:avLst/>
            <a:gdLst/>
            <a:ahLst/>
            <a:cxnLst/>
            <a:rect l="l" t="t" r="r" b="b"/>
            <a:pathLst>
              <a:path w="3642995" h="10287000">
                <a:moveTo>
                  <a:pt x="3642614" y="0"/>
                </a:moveTo>
                <a:lnTo>
                  <a:pt x="0" y="0"/>
                </a:lnTo>
                <a:lnTo>
                  <a:pt x="0" y="10287000"/>
                </a:lnTo>
                <a:lnTo>
                  <a:pt x="3642614" y="10287000"/>
                </a:lnTo>
                <a:lnTo>
                  <a:pt x="3642614" y="0"/>
                </a:lnTo>
                <a:close/>
              </a:path>
            </a:pathLst>
          </a:custGeom>
          <a:solidFill>
            <a:srgbClr val="DED2C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7989F207-C32D-1EF4-7DAD-4BB9C2826419}"/>
              </a:ext>
            </a:extLst>
          </p:cNvPr>
          <p:cNvSpPr/>
          <p:nvPr/>
        </p:nvSpPr>
        <p:spPr>
          <a:xfrm>
            <a:off x="1600200" y="0"/>
            <a:ext cx="15316200" cy="1219200"/>
          </a:xfrm>
          <a:custGeom>
            <a:avLst/>
            <a:gdLst/>
            <a:ahLst/>
            <a:cxnLst/>
            <a:rect l="l" t="t" r="r" b="b"/>
            <a:pathLst>
              <a:path w="3642995" h="10287000">
                <a:moveTo>
                  <a:pt x="3642614" y="0"/>
                </a:moveTo>
                <a:lnTo>
                  <a:pt x="0" y="0"/>
                </a:lnTo>
                <a:lnTo>
                  <a:pt x="0" y="10287000"/>
                </a:lnTo>
                <a:lnTo>
                  <a:pt x="3642614" y="10287000"/>
                </a:lnTo>
                <a:lnTo>
                  <a:pt x="3642614" y="0"/>
                </a:lnTo>
                <a:close/>
              </a:path>
            </a:pathLst>
          </a:custGeom>
          <a:solidFill>
            <a:srgbClr val="DED2C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91B2BF63-833F-D4D1-2453-727353F047F7}"/>
              </a:ext>
            </a:extLst>
          </p:cNvPr>
          <p:cNvSpPr/>
          <p:nvPr/>
        </p:nvSpPr>
        <p:spPr>
          <a:xfrm>
            <a:off x="1531620" y="9067799"/>
            <a:ext cx="15316200" cy="1219200"/>
          </a:xfrm>
          <a:custGeom>
            <a:avLst/>
            <a:gdLst/>
            <a:ahLst/>
            <a:cxnLst/>
            <a:rect l="l" t="t" r="r" b="b"/>
            <a:pathLst>
              <a:path w="3642995" h="10287000">
                <a:moveTo>
                  <a:pt x="3642614" y="0"/>
                </a:moveTo>
                <a:lnTo>
                  <a:pt x="0" y="0"/>
                </a:lnTo>
                <a:lnTo>
                  <a:pt x="0" y="10287000"/>
                </a:lnTo>
                <a:lnTo>
                  <a:pt x="3642614" y="10287000"/>
                </a:lnTo>
                <a:lnTo>
                  <a:pt x="3642614" y="0"/>
                </a:lnTo>
                <a:close/>
              </a:path>
            </a:pathLst>
          </a:custGeom>
          <a:solidFill>
            <a:srgbClr val="DED2C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1934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A64D1C-BB15-2D83-26CA-EC9274017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647700"/>
            <a:ext cx="8153400" cy="922020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7A9D6A98-F259-2307-D6CF-39891D0B4A06}"/>
              </a:ext>
            </a:extLst>
          </p:cNvPr>
          <p:cNvSpPr/>
          <p:nvPr/>
        </p:nvSpPr>
        <p:spPr>
          <a:xfrm>
            <a:off x="-30480" y="0"/>
            <a:ext cx="1600200" cy="10287000"/>
          </a:xfrm>
          <a:custGeom>
            <a:avLst/>
            <a:gdLst/>
            <a:ahLst/>
            <a:cxnLst/>
            <a:rect l="l" t="t" r="r" b="b"/>
            <a:pathLst>
              <a:path w="3642995" h="10287000">
                <a:moveTo>
                  <a:pt x="3642614" y="0"/>
                </a:moveTo>
                <a:lnTo>
                  <a:pt x="0" y="0"/>
                </a:lnTo>
                <a:lnTo>
                  <a:pt x="0" y="10287000"/>
                </a:lnTo>
                <a:lnTo>
                  <a:pt x="3642614" y="10287000"/>
                </a:lnTo>
                <a:lnTo>
                  <a:pt x="3642614" y="0"/>
                </a:lnTo>
                <a:close/>
              </a:path>
            </a:pathLst>
          </a:custGeom>
          <a:solidFill>
            <a:srgbClr val="DED2C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F6B24F99-4111-C4F5-AB91-A1DC0942F9AC}"/>
              </a:ext>
            </a:extLst>
          </p:cNvPr>
          <p:cNvSpPr/>
          <p:nvPr/>
        </p:nvSpPr>
        <p:spPr>
          <a:xfrm>
            <a:off x="16764000" y="7620"/>
            <a:ext cx="1600200" cy="10287000"/>
          </a:xfrm>
          <a:custGeom>
            <a:avLst/>
            <a:gdLst/>
            <a:ahLst/>
            <a:cxnLst/>
            <a:rect l="l" t="t" r="r" b="b"/>
            <a:pathLst>
              <a:path w="3642995" h="10287000">
                <a:moveTo>
                  <a:pt x="3642614" y="0"/>
                </a:moveTo>
                <a:lnTo>
                  <a:pt x="0" y="0"/>
                </a:lnTo>
                <a:lnTo>
                  <a:pt x="0" y="10287000"/>
                </a:lnTo>
                <a:lnTo>
                  <a:pt x="3642614" y="10287000"/>
                </a:lnTo>
                <a:lnTo>
                  <a:pt x="3642614" y="0"/>
                </a:lnTo>
                <a:close/>
              </a:path>
            </a:pathLst>
          </a:custGeom>
          <a:solidFill>
            <a:srgbClr val="DED2C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7327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466BFE-253C-DD0D-B0BE-B6129EFC2DA0}"/>
              </a:ext>
            </a:extLst>
          </p:cNvPr>
          <p:cNvSpPr txBox="1"/>
          <p:nvPr/>
        </p:nvSpPr>
        <p:spPr>
          <a:xfrm>
            <a:off x="2057400" y="1094259"/>
            <a:ext cx="14401800" cy="2958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Detection Challenges :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to detect PPE in dark or very bright areas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PPE and clothes sometimes look similar in color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 camera angles reduce accuracy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1A8C11-1BDF-D9CA-99EF-810C3C66F8B3}"/>
              </a:ext>
            </a:extLst>
          </p:cNvPr>
          <p:cNvSpPr txBox="1"/>
          <p:nvPr/>
        </p:nvSpPr>
        <p:spPr>
          <a:xfrm>
            <a:off x="2057400" y="4029981"/>
            <a:ext cx="9144000" cy="2958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Construction Site Challenges :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Dust and smoke can block camera view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PPE may be partially covered or dirty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changes affect visibility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1F0151-9C49-B674-68CA-1F7B72E720E2}"/>
              </a:ext>
            </a:extLst>
          </p:cNvPr>
          <p:cNvSpPr txBox="1"/>
          <p:nvPr/>
        </p:nvSpPr>
        <p:spPr>
          <a:xfrm>
            <a:off x="2057400" y="6965703"/>
            <a:ext cx="9144000" cy="2958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Technical / System Challenges :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detection needs a strong system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to connect detection system to existing CCTV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regular monitoring and updates</a:t>
            </a:r>
          </a:p>
        </p:txBody>
      </p:sp>
      <p:sp>
        <p:nvSpPr>
          <p:cNvPr id="9" name="object 13">
            <a:extLst>
              <a:ext uri="{FF2B5EF4-FFF2-40B4-BE49-F238E27FC236}">
                <a16:creationId xmlns:a16="http://schemas.microsoft.com/office/drawing/2014/main" id="{64AAE333-1615-9981-B914-373F02930027}"/>
              </a:ext>
            </a:extLst>
          </p:cNvPr>
          <p:cNvSpPr txBox="1">
            <a:spLocks/>
          </p:cNvSpPr>
          <p:nvPr/>
        </p:nvSpPr>
        <p:spPr>
          <a:xfrm>
            <a:off x="2218546" y="228299"/>
            <a:ext cx="6078508" cy="843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sz="5400" spc="810" dirty="0">
                <a:latin typeface="Algerian" panose="04020705040A02060702" pitchFamily="82" charset="0"/>
                <a:cs typeface="Times New Roman" panose="02020603050405020304" pitchFamily="18" charset="0"/>
              </a:rPr>
              <a:t>c</a:t>
            </a:r>
            <a:r>
              <a:rPr lang="en-IN" sz="5400" spc="810" dirty="0" err="1">
                <a:latin typeface="Algerian" panose="04020705040A02060702" pitchFamily="82" charset="0"/>
                <a:cs typeface="Times New Roman" panose="02020603050405020304" pitchFamily="18" charset="0"/>
              </a:rPr>
              <a:t>hallenges</a:t>
            </a:r>
            <a:endParaRPr lang="en-IN" sz="54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756107D8-C819-2015-15BA-1F81EE547796}"/>
              </a:ext>
            </a:extLst>
          </p:cNvPr>
          <p:cNvSpPr/>
          <p:nvPr/>
        </p:nvSpPr>
        <p:spPr>
          <a:xfrm>
            <a:off x="0" y="0"/>
            <a:ext cx="1600200" cy="10287000"/>
          </a:xfrm>
          <a:custGeom>
            <a:avLst/>
            <a:gdLst/>
            <a:ahLst/>
            <a:cxnLst/>
            <a:rect l="l" t="t" r="r" b="b"/>
            <a:pathLst>
              <a:path w="3642995" h="10287000">
                <a:moveTo>
                  <a:pt x="3642614" y="0"/>
                </a:moveTo>
                <a:lnTo>
                  <a:pt x="0" y="0"/>
                </a:lnTo>
                <a:lnTo>
                  <a:pt x="0" y="10287000"/>
                </a:lnTo>
                <a:lnTo>
                  <a:pt x="3642614" y="10287000"/>
                </a:lnTo>
                <a:lnTo>
                  <a:pt x="3642614" y="0"/>
                </a:lnTo>
                <a:close/>
              </a:path>
            </a:pathLst>
          </a:custGeom>
          <a:solidFill>
            <a:srgbClr val="DED2C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5D306C6C-9632-4920-B36E-64EB2DCD9C2C}"/>
              </a:ext>
            </a:extLst>
          </p:cNvPr>
          <p:cNvSpPr/>
          <p:nvPr/>
        </p:nvSpPr>
        <p:spPr>
          <a:xfrm>
            <a:off x="16687800" y="0"/>
            <a:ext cx="1600200" cy="10287000"/>
          </a:xfrm>
          <a:custGeom>
            <a:avLst/>
            <a:gdLst/>
            <a:ahLst/>
            <a:cxnLst/>
            <a:rect l="l" t="t" r="r" b="b"/>
            <a:pathLst>
              <a:path w="3642995" h="10287000">
                <a:moveTo>
                  <a:pt x="3642614" y="0"/>
                </a:moveTo>
                <a:lnTo>
                  <a:pt x="0" y="0"/>
                </a:lnTo>
                <a:lnTo>
                  <a:pt x="0" y="10287000"/>
                </a:lnTo>
                <a:lnTo>
                  <a:pt x="3642614" y="10287000"/>
                </a:lnTo>
                <a:lnTo>
                  <a:pt x="3642614" y="0"/>
                </a:lnTo>
                <a:close/>
              </a:path>
            </a:pathLst>
          </a:custGeom>
          <a:solidFill>
            <a:srgbClr val="DED2C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5185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3">
            <a:extLst>
              <a:ext uri="{FF2B5EF4-FFF2-40B4-BE49-F238E27FC236}">
                <a16:creationId xmlns:a16="http://schemas.microsoft.com/office/drawing/2014/main" id="{6C323858-8237-44B2-ABC2-7DF4F79FA013}"/>
              </a:ext>
            </a:extLst>
          </p:cNvPr>
          <p:cNvSpPr txBox="1">
            <a:spLocks/>
          </p:cNvSpPr>
          <p:nvPr/>
        </p:nvSpPr>
        <p:spPr>
          <a:xfrm>
            <a:off x="838200" y="571500"/>
            <a:ext cx="7373908" cy="843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sz="5400" spc="810" dirty="0">
                <a:latin typeface="Algerian" panose="04020705040A02060702" pitchFamily="82" charset="0"/>
                <a:cs typeface="Times New Roman" panose="02020603050405020304" pitchFamily="18" charset="0"/>
              </a:rPr>
              <a:t>F</a:t>
            </a:r>
            <a:r>
              <a:rPr lang="en-IN" sz="5400" spc="810" dirty="0" err="1">
                <a:latin typeface="Algerian" panose="04020705040A02060702" pitchFamily="82" charset="0"/>
                <a:cs typeface="Times New Roman" panose="02020603050405020304" pitchFamily="18" charset="0"/>
              </a:rPr>
              <a:t>inal</a:t>
            </a:r>
            <a:r>
              <a:rPr lang="en-IN" sz="5400" spc="810" dirty="0">
                <a:latin typeface="Algerian" panose="04020705040A02060702" pitchFamily="82" charset="0"/>
                <a:cs typeface="Times New Roman" panose="02020603050405020304" pitchFamily="18" charset="0"/>
              </a:rPr>
              <a:t> summary</a:t>
            </a:r>
            <a:endParaRPr lang="en-IN" sz="5400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7CC7B2C-D945-81AF-6E57-ADEAF3F4A8E2}"/>
              </a:ext>
            </a:extLst>
          </p:cNvPr>
          <p:cNvSpPr/>
          <p:nvPr/>
        </p:nvSpPr>
        <p:spPr>
          <a:xfrm>
            <a:off x="838200" y="1714500"/>
            <a:ext cx="16459200" cy="8229600"/>
          </a:xfrm>
          <a:custGeom>
            <a:avLst/>
            <a:gdLst/>
            <a:ahLst/>
            <a:cxnLst/>
            <a:rect l="l" t="t" r="r" b="b"/>
            <a:pathLst>
              <a:path w="16701135" h="7222490">
                <a:moveTo>
                  <a:pt x="16700754" y="0"/>
                </a:moveTo>
                <a:lnTo>
                  <a:pt x="0" y="0"/>
                </a:lnTo>
                <a:lnTo>
                  <a:pt x="0" y="7221982"/>
                </a:lnTo>
                <a:lnTo>
                  <a:pt x="16700754" y="7221982"/>
                </a:lnTo>
                <a:lnTo>
                  <a:pt x="16700754" y="0"/>
                </a:lnTo>
                <a:close/>
              </a:path>
            </a:pathLst>
          </a:custGeom>
          <a:solidFill>
            <a:srgbClr val="F0F0EB"/>
          </a:solidFill>
        </p:spPr>
        <p:txBody>
          <a:bodyPr wrap="square" lIns="0" tIns="0" rIns="0" bIns="0" rtlCol="0"/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Imported all required libraries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Loaded the construction safety dataset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Checked images and labels using basic EDA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Loaded the YOLOv8 model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Trained the model on PPE classes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Validated the model accuracy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 predictions on new images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Detected PPE and safety violations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Saved output images with labels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the model for safety monitoring</a:t>
            </a:r>
          </a:p>
        </p:txBody>
      </p:sp>
    </p:spTree>
    <p:extLst>
      <p:ext uri="{BB962C8B-B14F-4D97-AF65-F5344CB8AC3E}">
        <p14:creationId xmlns:p14="http://schemas.microsoft.com/office/powerpoint/2010/main" val="3447799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1064</TotalTime>
  <Words>269</Words>
  <Application>Microsoft Office PowerPoint</Application>
  <PresentationFormat>Custom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Algerian</vt:lpstr>
      <vt:lpstr>Arial</vt:lpstr>
      <vt:lpstr>Calibri</vt:lpstr>
      <vt:lpstr>Palatino Linotype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Olivia Wilson</dc:title>
  <dc:creator>Manasa Depa</dc:creator>
  <cp:keywords>DAGmRSLKuqo,BAGfp_ue1Aw,0</cp:keywords>
  <cp:lastModifiedBy>Manasa Depa</cp:lastModifiedBy>
  <cp:revision>12</cp:revision>
  <dcterms:created xsi:type="dcterms:W3CDTF">2025-11-19T15:52:58Z</dcterms:created>
  <dcterms:modified xsi:type="dcterms:W3CDTF">2025-12-01T14:34:00Z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2025-11-19T00:00:00Z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2025-11-19T00:00:00Z</vt:filetime>
  </property>
  <property fmtid="{D5CDD505-2E9C-101B-9397-08002B2CF9AE}" pid="5" name="Producer">
    <vt:lpwstr>www.ilovepdf.com</vt:lpwstr>
  </property>
</Properties>
</file>