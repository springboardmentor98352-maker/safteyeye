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Bold" panose="00000800000000000000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848606" y="-7864775"/>
            <a:ext cx="26441406" cy="23159101"/>
            <a:chOff x="-83476" y="19050"/>
            <a:chExt cx="1043775" cy="914206"/>
          </a:xfrm>
        </p:grpSpPr>
        <p:sp>
          <p:nvSpPr>
            <p:cNvPr id="3" name="Freeform 3"/>
            <p:cNvSpPr/>
            <p:nvPr/>
          </p:nvSpPr>
          <p:spPr>
            <a:xfrm>
              <a:off x="-83476" y="120456"/>
              <a:ext cx="1043775" cy="812800"/>
            </a:xfrm>
            <a:custGeom>
              <a:avLst/>
              <a:gdLst/>
              <a:ahLst/>
              <a:cxnLst/>
              <a:rect l="l" t="t" r="r" b="b"/>
              <a:pathLst>
                <a:path w="948267" h="812800">
                  <a:moveTo>
                    <a:pt x="474134" y="0"/>
                  </a:moveTo>
                  <a:cubicBezTo>
                    <a:pt x="212277" y="0"/>
                    <a:pt x="0" y="181951"/>
                    <a:pt x="0" y="406400"/>
                  </a:cubicBezTo>
                  <a:cubicBezTo>
                    <a:pt x="0" y="630849"/>
                    <a:pt x="212277" y="812800"/>
                    <a:pt x="474134" y="812800"/>
                  </a:cubicBezTo>
                  <a:cubicBezTo>
                    <a:pt x="735990" y="812800"/>
                    <a:pt x="948267" y="630849"/>
                    <a:pt x="948267" y="406400"/>
                  </a:cubicBezTo>
                  <a:cubicBezTo>
                    <a:pt x="948267" y="181951"/>
                    <a:pt x="735990" y="0"/>
                    <a:pt x="47413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8900" y="19050"/>
              <a:ext cx="770467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62055" y="5436018"/>
            <a:ext cx="321025" cy="32102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912644" y="2808421"/>
            <a:ext cx="881574" cy="88157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040518" y="2936295"/>
            <a:ext cx="625825" cy="62582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6897" y="58931"/>
            <a:ext cx="2022674" cy="2022674"/>
          </a:xfrm>
          <a:custGeom>
            <a:avLst/>
            <a:gdLst/>
            <a:ahLst/>
            <a:cxnLst/>
            <a:rect l="l" t="t" r="r" b="b"/>
            <a:pathLst>
              <a:path w="2022674" h="2022674">
                <a:moveTo>
                  <a:pt x="0" y="0"/>
                </a:moveTo>
                <a:lnTo>
                  <a:pt x="2022674" y="0"/>
                </a:lnTo>
                <a:lnTo>
                  <a:pt x="2022674" y="2022674"/>
                </a:lnTo>
                <a:lnTo>
                  <a:pt x="0" y="2022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332861" y="5757043"/>
            <a:ext cx="8349229" cy="3683973"/>
            <a:chOff x="0" y="0"/>
            <a:chExt cx="1952200" cy="86137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52200" cy="861379"/>
            </a:xfrm>
            <a:custGeom>
              <a:avLst/>
              <a:gdLst/>
              <a:ahLst/>
              <a:cxnLst/>
              <a:rect l="l" t="t" r="r" b="b"/>
              <a:pathLst>
                <a:path w="1952200" h="861379">
                  <a:moveTo>
                    <a:pt x="92726" y="0"/>
                  </a:moveTo>
                  <a:lnTo>
                    <a:pt x="1859474" y="0"/>
                  </a:lnTo>
                  <a:cubicBezTo>
                    <a:pt x="1910686" y="0"/>
                    <a:pt x="1952200" y="41515"/>
                    <a:pt x="1952200" y="92726"/>
                  </a:cubicBezTo>
                  <a:lnTo>
                    <a:pt x="1952200" y="768653"/>
                  </a:lnTo>
                  <a:cubicBezTo>
                    <a:pt x="1952200" y="793246"/>
                    <a:pt x="1942431" y="816831"/>
                    <a:pt x="1925042" y="834220"/>
                  </a:cubicBezTo>
                  <a:cubicBezTo>
                    <a:pt x="1907652" y="851610"/>
                    <a:pt x="1884067" y="861379"/>
                    <a:pt x="1859474" y="861379"/>
                  </a:cubicBezTo>
                  <a:lnTo>
                    <a:pt x="92726" y="861379"/>
                  </a:lnTo>
                  <a:cubicBezTo>
                    <a:pt x="41515" y="861379"/>
                    <a:pt x="0" y="819864"/>
                    <a:pt x="0" y="768653"/>
                  </a:cubicBezTo>
                  <a:lnTo>
                    <a:pt x="0" y="92726"/>
                  </a:lnTo>
                  <a:cubicBezTo>
                    <a:pt x="0" y="41515"/>
                    <a:pt x="41515" y="0"/>
                    <a:pt x="927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952200" cy="918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dirty="0">
                  <a:solidFill>
                    <a:srgbClr val="6E38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Presented by: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 b="1" dirty="0">
                  <a:solidFill>
                    <a:srgbClr val="6E38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Ojaswi Ambare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 b="1" dirty="0">
                  <a:solidFill>
                    <a:srgbClr val="6E38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5th Semester – Information Technology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 b="1" dirty="0">
                  <a:solidFill>
                    <a:srgbClr val="6E38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G. H. </a:t>
              </a:r>
              <a:r>
                <a:rPr lang="en-US" sz="1999" b="1" dirty="0" err="1">
                  <a:solidFill>
                    <a:srgbClr val="6E38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Raisoni</a:t>
              </a:r>
              <a:r>
                <a:rPr lang="en-US" sz="1999" b="1" dirty="0">
                  <a:solidFill>
                    <a:srgbClr val="6E38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College of Engineering, Nagpur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 b="1" dirty="0">
                  <a:solidFill>
                    <a:srgbClr val="6E38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Mentor: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 b="1" dirty="0">
                  <a:solidFill>
                    <a:srgbClr val="6E38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Ankit Pathak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 b="1" dirty="0">
                  <a:solidFill>
                    <a:srgbClr val="6E38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Infosys Springboard Virtual Internship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24476" y="7688005"/>
            <a:ext cx="546302" cy="544824"/>
            <a:chOff x="0" y="0"/>
            <a:chExt cx="127735" cy="1273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7735" cy="127390"/>
            </a:xfrm>
            <a:custGeom>
              <a:avLst/>
              <a:gdLst/>
              <a:ahLst/>
              <a:cxnLst/>
              <a:rect l="l" t="t" r="r" b="b"/>
              <a:pathLst>
                <a:path w="127735" h="127390">
                  <a:moveTo>
                    <a:pt x="63695" y="0"/>
                  </a:moveTo>
                  <a:lnTo>
                    <a:pt x="64040" y="0"/>
                  </a:lnTo>
                  <a:cubicBezTo>
                    <a:pt x="80933" y="0"/>
                    <a:pt x="97134" y="6711"/>
                    <a:pt x="109080" y="18656"/>
                  </a:cubicBezTo>
                  <a:cubicBezTo>
                    <a:pt x="121025" y="30601"/>
                    <a:pt x="127735" y="46802"/>
                    <a:pt x="127735" y="63695"/>
                  </a:cubicBezTo>
                  <a:lnTo>
                    <a:pt x="127735" y="63695"/>
                  </a:lnTo>
                  <a:cubicBezTo>
                    <a:pt x="127735" y="80588"/>
                    <a:pt x="121025" y="96789"/>
                    <a:pt x="109080" y="108734"/>
                  </a:cubicBezTo>
                  <a:cubicBezTo>
                    <a:pt x="97134" y="120679"/>
                    <a:pt x="80933" y="127390"/>
                    <a:pt x="64040" y="127390"/>
                  </a:cubicBezTo>
                  <a:lnTo>
                    <a:pt x="63695" y="127390"/>
                  </a:lnTo>
                  <a:cubicBezTo>
                    <a:pt x="46802" y="127390"/>
                    <a:pt x="30601" y="120679"/>
                    <a:pt x="18656" y="108734"/>
                  </a:cubicBezTo>
                  <a:cubicBezTo>
                    <a:pt x="6711" y="96789"/>
                    <a:pt x="0" y="80588"/>
                    <a:pt x="0" y="63695"/>
                  </a:cubicBezTo>
                  <a:lnTo>
                    <a:pt x="0" y="63695"/>
                  </a:lnTo>
                  <a:cubicBezTo>
                    <a:pt x="0" y="46802"/>
                    <a:pt x="6711" y="30601"/>
                    <a:pt x="18656" y="18656"/>
                  </a:cubicBezTo>
                  <a:cubicBezTo>
                    <a:pt x="30601" y="6711"/>
                    <a:pt x="46802" y="0"/>
                    <a:pt x="6369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7735" cy="184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3541680" y="2901342"/>
            <a:ext cx="3574023" cy="6356958"/>
          </a:xfrm>
          <a:custGeom>
            <a:avLst/>
            <a:gdLst/>
            <a:ahLst/>
            <a:cxnLst/>
            <a:rect l="l" t="t" r="r" b="b"/>
            <a:pathLst>
              <a:path w="3574023" h="6356958">
                <a:moveTo>
                  <a:pt x="0" y="0"/>
                </a:moveTo>
                <a:lnTo>
                  <a:pt x="3574023" y="0"/>
                </a:lnTo>
                <a:lnTo>
                  <a:pt x="35740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59322" y="4274406"/>
            <a:ext cx="116409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 spc="84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HELMET, MASK &amp; SAFETY VEST MONITORING USING YOLOV8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92783" y="1951452"/>
            <a:ext cx="10748897" cy="129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456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SAFETY  AI-BASED  PPE  VIOLATION  DETECTION  SYSTEM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5683079" y="1552873"/>
            <a:ext cx="819453" cy="789773"/>
            <a:chOff x="0" y="0"/>
            <a:chExt cx="191603" cy="18466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1603" cy="184663"/>
            </a:xfrm>
            <a:custGeom>
              <a:avLst/>
              <a:gdLst/>
              <a:ahLst/>
              <a:cxnLst/>
              <a:rect l="l" t="t" r="r" b="b"/>
              <a:pathLst>
                <a:path w="191603" h="184663">
                  <a:moveTo>
                    <a:pt x="92332" y="0"/>
                  </a:moveTo>
                  <a:lnTo>
                    <a:pt x="99271" y="0"/>
                  </a:lnTo>
                  <a:cubicBezTo>
                    <a:pt x="123759" y="0"/>
                    <a:pt x="147244" y="9728"/>
                    <a:pt x="164560" y="27043"/>
                  </a:cubicBezTo>
                  <a:cubicBezTo>
                    <a:pt x="181875" y="44359"/>
                    <a:pt x="191603" y="67844"/>
                    <a:pt x="191603" y="92332"/>
                  </a:cubicBezTo>
                  <a:lnTo>
                    <a:pt x="191603" y="92332"/>
                  </a:lnTo>
                  <a:cubicBezTo>
                    <a:pt x="191603" y="116819"/>
                    <a:pt x="181875" y="140304"/>
                    <a:pt x="164560" y="157620"/>
                  </a:cubicBezTo>
                  <a:cubicBezTo>
                    <a:pt x="147244" y="174935"/>
                    <a:pt x="123759" y="184663"/>
                    <a:pt x="99271" y="184663"/>
                  </a:cubicBezTo>
                  <a:lnTo>
                    <a:pt x="92332" y="184663"/>
                  </a:lnTo>
                  <a:cubicBezTo>
                    <a:pt x="67844" y="184663"/>
                    <a:pt x="44359" y="174935"/>
                    <a:pt x="27043" y="157620"/>
                  </a:cubicBezTo>
                  <a:cubicBezTo>
                    <a:pt x="9728" y="140304"/>
                    <a:pt x="0" y="116819"/>
                    <a:pt x="0" y="92332"/>
                  </a:cubicBezTo>
                  <a:lnTo>
                    <a:pt x="0" y="92332"/>
                  </a:lnTo>
                  <a:cubicBezTo>
                    <a:pt x="0" y="67844"/>
                    <a:pt x="9728" y="44359"/>
                    <a:pt x="27043" y="27043"/>
                  </a:cubicBezTo>
                  <a:cubicBezTo>
                    <a:pt x="44359" y="9728"/>
                    <a:pt x="67844" y="0"/>
                    <a:pt x="9233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91603" cy="241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767428" y="1697612"/>
            <a:ext cx="546180" cy="500296"/>
            <a:chOff x="0" y="0"/>
            <a:chExt cx="127707" cy="11697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7707" cy="116978"/>
            </a:xfrm>
            <a:custGeom>
              <a:avLst/>
              <a:gdLst/>
              <a:ahLst/>
              <a:cxnLst/>
              <a:rect l="l" t="t" r="r" b="b"/>
              <a:pathLst>
                <a:path w="127707" h="116978">
                  <a:moveTo>
                    <a:pt x="58489" y="0"/>
                  </a:moveTo>
                  <a:lnTo>
                    <a:pt x="69218" y="0"/>
                  </a:lnTo>
                  <a:cubicBezTo>
                    <a:pt x="101520" y="0"/>
                    <a:pt x="127707" y="26186"/>
                    <a:pt x="127707" y="58489"/>
                  </a:cubicBezTo>
                  <a:lnTo>
                    <a:pt x="127707" y="58489"/>
                  </a:lnTo>
                  <a:cubicBezTo>
                    <a:pt x="127707" y="90792"/>
                    <a:pt x="101520" y="116978"/>
                    <a:pt x="69218" y="116978"/>
                  </a:cubicBezTo>
                  <a:lnTo>
                    <a:pt x="58489" y="116978"/>
                  </a:lnTo>
                  <a:cubicBezTo>
                    <a:pt x="26186" y="116978"/>
                    <a:pt x="0" y="90792"/>
                    <a:pt x="0" y="58489"/>
                  </a:cubicBezTo>
                  <a:lnTo>
                    <a:pt x="0" y="58489"/>
                  </a:lnTo>
                  <a:cubicBezTo>
                    <a:pt x="0" y="26186"/>
                    <a:pt x="26186" y="0"/>
                    <a:pt x="584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27707" cy="174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83243" y="6962248"/>
            <a:ext cx="222262" cy="332288"/>
          </a:xfrm>
          <a:custGeom>
            <a:avLst/>
            <a:gdLst/>
            <a:ahLst/>
            <a:cxnLst/>
            <a:rect l="l" t="t" r="r" b="b"/>
            <a:pathLst>
              <a:path w="222262" h="332288">
                <a:moveTo>
                  <a:pt x="0" y="0"/>
                </a:moveTo>
                <a:lnTo>
                  <a:pt x="222262" y="0"/>
                </a:lnTo>
                <a:lnTo>
                  <a:pt x="222262" y="332288"/>
                </a:lnTo>
                <a:lnTo>
                  <a:pt x="0" y="332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168243" y="7006291"/>
            <a:ext cx="881574" cy="88157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862441" y="300339"/>
            <a:ext cx="625825" cy="62582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48518" y="7438966"/>
            <a:ext cx="321025" cy="32102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0"/>
            <a:ext cx="2035123" cy="2035123"/>
          </a:xfrm>
          <a:custGeom>
            <a:avLst/>
            <a:gdLst/>
            <a:ahLst/>
            <a:cxnLst/>
            <a:rect l="l" t="t" r="r" b="b"/>
            <a:pathLst>
              <a:path w="2035123" h="2035123">
                <a:moveTo>
                  <a:pt x="0" y="0"/>
                </a:moveTo>
                <a:lnTo>
                  <a:pt x="2035123" y="0"/>
                </a:lnTo>
                <a:lnTo>
                  <a:pt x="2035123" y="2035123"/>
                </a:lnTo>
                <a:lnTo>
                  <a:pt x="0" y="2035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05030" y="3603617"/>
            <a:ext cx="6691353" cy="3843462"/>
          </a:xfrm>
          <a:custGeom>
            <a:avLst/>
            <a:gdLst/>
            <a:ahLst/>
            <a:cxnLst/>
            <a:rect l="l" t="t" r="r" b="b"/>
            <a:pathLst>
              <a:path w="6691353" h="3843462">
                <a:moveTo>
                  <a:pt x="0" y="0"/>
                </a:moveTo>
                <a:lnTo>
                  <a:pt x="6691353" y="0"/>
                </a:lnTo>
                <a:lnTo>
                  <a:pt x="6691353" y="3843461"/>
                </a:lnTo>
                <a:lnTo>
                  <a:pt x="0" y="38434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570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144000" y="1557880"/>
            <a:ext cx="7233504" cy="2738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9"/>
              </a:lnSpc>
            </a:pPr>
            <a:r>
              <a:rPr lang="en-US" sz="651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ABSTRACT</a:t>
            </a:r>
          </a:p>
          <a:p>
            <a:pPr algn="l">
              <a:lnSpc>
                <a:spcPts val="6969"/>
              </a:lnSpc>
            </a:pPr>
            <a:endParaRPr lang="en-US" sz="6513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6969"/>
              </a:lnSpc>
            </a:pPr>
            <a:endParaRPr lang="en-US" sz="6513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666547" y="2822167"/>
            <a:ext cx="6188410" cy="717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11"/>
              </a:lnSpc>
            </a:pPr>
            <a:r>
              <a:rPr lang="en-US" sz="15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SafetyEye is an AI-powered Personal Protective Equipment (PPE) violation detection system designed to enhance safety compliance in industrial and construction environments.</a:t>
            </a:r>
          </a:p>
          <a:p>
            <a:pPr algn="just">
              <a:lnSpc>
                <a:spcPts val="2711"/>
              </a:lnSpc>
            </a:pPr>
            <a:endParaRPr lang="en-US" sz="159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711"/>
              </a:lnSpc>
            </a:pPr>
            <a:r>
              <a:rPr lang="en-US" sz="15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automatically detects safety violations such as missing helmets, masks, and safety vests from live CCTV or webcam video streams using the YOLOv8 object detection model.</a:t>
            </a:r>
          </a:p>
          <a:p>
            <a:pPr algn="just">
              <a:lnSpc>
                <a:spcPts val="2711"/>
              </a:lnSpc>
            </a:pPr>
            <a:endParaRPr lang="en-US" sz="159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711"/>
              </a:lnSpc>
            </a:pPr>
            <a:r>
              <a:rPr lang="en-US" sz="15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 addition to real-time detection, SafetyEye provides intelligent analytics such as violation heatmaps, occupancy count, and a compliance score to measure overall safety adherence.</a:t>
            </a:r>
          </a:p>
          <a:p>
            <a:pPr algn="just">
              <a:lnSpc>
                <a:spcPts val="2711"/>
              </a:lnSpc>
            </a:pPr>
            <a:endParaRPr lang="en-US" sz="159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711"/>
              </a:lnSpc>
            </a:pPr>
            <a:r>
              <a:rPr lang="en-US" sz="15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platform supports automatic violation logging, PDF challan generation, and interactive dashboards built using Streamlit. This project was developed as part of the Infosys Springboard Virtual Internship and demonstrates real-world application of computer vision and AI-driven safety monitoring.</a:t>
            </a:r>
          </a:p>
          <a:p>
            <a:pPr algn="just">
              <a:lnSpc>
                <a:spcPts val="2711"/>
              </a:lnSpc>
            </a:pPr>
            <a:endParaRPr lang="en-US" sz="159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877810" y="556102"/>
            <a:ext cx="927891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2F351A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32438" y="535871"/>
            <a:ext cx="927891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2F351A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22616" y="524043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2F351A"/>
                </a:solidFill>
                <a:latin typeface="Poppins"/>
                <a:ea typeface="Poppins"/>
                <a:cs typeface="Poppins"/>
                <a:sym typeface="Poppins"/>
              </a:rPr>
              <a:t>Other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4130" y="3799986"/>
            <a:ext cx="8363578" cy="5458314"/>
            <a:chOff x="0" y="0"/>
            <a:chExt cx="2692697" cy="17573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92697" cy="1757332"/>
            </a:xfrm>
            <a:custGeom>
              <a:avLst/>
              <a:gdLst/>
              <a:ahLst/>
              <a:cxnLst/>
              <a:rect l="l" t="t" r="r" b="b"/>
              <a:pathLst>
                <a:path w="2692697" h="1757332">
                  <a:moveTo>
                    <a:pt x="38335" y="0"/>
                  </a:moveTo>
                  <a:lnTo>
                    <a:pt x="2654362" y="0"/>
                  </a:lnTo>
                  <a:cubicBezTo>
                    <a:pt x="2675534" y="0"/>
                    <a:pt x="2692697" y="17163"/>
                    <a:pt x="2692697" y="38335"/>
                  </a:cubicBezTo>
                  <a:lnTo>
                    <a:pt x="2692697" y="1718997"/>
                  </a:lnTo>
                  <a:cubicBezTo>
                    <a:pt x="2692697" y="1740169"/>
                    <a:pt x="2675534" y="1757332"/>
                    <a:pt x="2654362" y="1757332"/>
                  </a:cubicBezTo>
                  <a:lnTo>
                    <a:pt x="38335" y="1757332"/>
                  </a:lnTo>
                  <a:cubicBezTo>
                    <a:pt x="17163" y="1757332"/>
                    <a:pt x="0" y="1740169"/>
                    <a:pt x="0" y="1718997"/>
                  </a:cubicBezTo>
                  <a:lnTo>
                    <a:pt x="0" y="38335"/>
                  </a:lnTo>
                  <a:cubicBezTo>
                    <a:pt x="0" y="17163"/>
                    <a:pt x="17163" y="0"/>
                    <a:pt x="38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692697" cy="1814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368" y="0"/>
            <a:ext cx="2020664" cy="2020664"/>
          </a:xfrm>
          <a:custGeom>
            <a:avLst/>
            <a:gdLst/>
            <a:ahLst/>
            <a:cxnLst/>
            <a:rect l="l" t="t" r="r" b="b"/>
            <a:pathLst>
              <a:path w="2020664" h="2020664">
                <a:moveTo>
                  <a:pt x="0" y="0"/>
                </a:moveTo>
                <a:lnTo>
                  <a:pt x="2020664" y="0"/>
                </a:lnTo>
                <a:lnTo>
                  <a:pt x="2020664" y="2020664"/>
                </a:lnTo>
                <a:lnTo>
                  <a:pt x="0" y="2020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97198" y="1664434"/>
            <a:ext cx="5387159" cy="1709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8"/>
              </a:lnSpc>
            </a:pPr>
            <a:r>
              <a:rPr lang="en-US" sz="600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16805" y="4072429"/>
            <a:ext cx="5967552" cy="5100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sz="18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Manual monitoring of PPE compliance is slow, inconsistent, and error-prone.</a:t>
            </a:r>
          </a:p>
          <a:p>
            <a:pPr algn="just">
              <a:lnSpc>
                <a:spcPts val="3119"/>
              </a:lnSpc>
            </a:pPr>
            <a:endParaRPr lang="en-US" sz="183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119"/>
              </a:lnSpc>
            </a:pPr>
            <a:r>
              <a:rPr lang="en-US" sz="18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Existing systems lack:</a:t>
            </a:r>
          </a:p>
          <a:p>
            <a:pPr algn="just">
              <a:lnSpc>
                <a:spcPts val="3119"/>
              </a:lnSpc>
            </a:pPr>
            <a:r>
              <a:rPr lang="en-US" sz="18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Real-time violation detection</a:t>
            </a:r>
          </a:p>
          <a:p>
            <a:pPr algn="just">
              <a:lnSpc>
                <a:spcPts val="3119"/>
              </a:lnSpc>
            </a:pPr>
            <a:r>
              <a:rPr lang="en-US" sz="18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Automated evidence collection</a:t>
            </a:r>
          </a:p>
          <a:p>
            <a:pPr algn="just">
              <a:lnSpc>
                <a:spcPts val="3119"/>
              </a:lnSpc>
            </a:pPr>
            <a:r>
              <a:rPr lang="en-US" sz="18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Historical safety analytics</a:t>
            </a:r>
          </a:p>
          <a:p>
            <a:pPr algn="just">
              <a:lnSpc>
                <a:spcPts val="3119"/>
              </a:lnSpc>
            </a:pPr>
            <a:r>
              <a:rPr lang="en-US" sz="18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Occupancy awareness</a:t>
            </a:r>
          </a:p>
          <a:p>
            <a:pPr algn="just">
              <a:lnSpc>
                <a:spcPts val="3119"/>
              </a:lnSpc>
            </a:pPr>
            <a:r>
              <a:rPr lang="en-US" sz="18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Compliance measurement</a:t>
            </a:r>
          </a:p>
          <a:p>
            <a:pPr algn="just">
              <a:lnSpc>
                <a:spcPts val="3119"/>
              </a:lnSpc>
            </a:pPr>
            <a:endParaRPr lang="en-US" sz="183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119"/>
              </a:lnSpc>
            </a:pPr>
            <a:r>
              <a:rPr lang="en-US" sz="18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leads to missed violations, delayed responses, and increased risk of workplace accidents.</a:t>
            </a:r>
          </a:p>
          <a:p>
            <a:pPr algn="just">
              <a:lnSpc>
                <a:spcPts val="3119"/>
              </a:lnSpc>
            </a:pPr>
            <a:endParaRPr lang="en-US" sz="183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109426" y="2039714"/>
            <a:ext cx="5387159" cy="89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8"/>
              </a:lnSpc>
            </a:pPr>
            <a:r>
              <a:rPr lang="en-US" sz="600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460180" y="3799986"/>
            <a:ext cx="8332843" cy="5373019"/>
            <a:chOff x="0" y="0"/>
            <a:chExt cx="2682802" cy="17298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82802" cy="1729871"/>
            </a:xfrm>
            <a:custGeom>
              <a:avLst/>
              <a:gdLst/>
              <a:ahLst/>
              <a:cxnLst/>
              <a:rect l="l" t="t" r="r" b="b"/>
              <a:pathLst>
                <a:path w="2682802" h="1729871">
                  <a:moveTo>
                    <a:pt x="38477" y="0"/>
                  </a:moveTo>
                  <a:lnTo>
                    <a:pt x="2644325" y="0"/>
                  </a:lnTo>
                  <a:cubicBezTo>
                    <a:pt x="2665575" y="0"/>
                    <a:pt x="2682802" y="17227"/>
                    <a:pt x="2682802" y="38477"/>
                  </a:cubicBezTo>
                  <a:lnTo>
                    <a:pt x="2682802" y="1691394"/>
                  </a:lnTo>
                  <a:cubicBezTo>
                    <a:pt x="2682802" y="1712644"/>
                    <a:pt x="2665575" y="1729871"/>
                    <a:pt x="2644325" y="1729871"/>
                  </a:cubicBezTo>
                  <a:lnTo>
                    <a:pt x="38477" y="1729871"/>
                  </a:lnTo>
                  <a:cubicBezTo>
                    <a:pt x="17227" y="1729871"/>
                    <a:pt x="0" y="1712644"/>
                    <a:pt x="0" y="1691394"/>
                  </a:cubicBezTo>
                  <a:lnTo>
                    <a:pt x="0" y="38477"/>
                  </a:lnTo>
                  <a:cubicBezTo>
                    <a:pt x="0" y="17227"/>
                    <a:pt x="17227" y="0"/>
                    <a:pt x="384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682802" cy="1787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91860" y="4366509"/>
            <a:ext cx="6822292" cy="426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1"/>
              </a:lnSpc>
            </a:pPr>
            <a:r>
              <a:rPr lang="en-US" sz="20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To detect PPE violations (Helmet, Mask, Safety Vest) in real time</a:t>
            </a:r>
          </a:p>
          <a:p>
            <a:pPr algn="ctr">
              <a:lnSpc>
                <a:spcPts val="2821"/>
              </a:lnSpc>
            </a:pPr>
            <a:r>
              <a:rPr lang="en-US" sz="20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To automate violation logging and evidence storage</a:t>
            </a:r>
          </a:p>
          <a:p>
            <a:pPr algn="ctr">
              <a:lnSpc>
                <a:spcPts val="2821"/>
              </a:lnSpc>
            </a:pPr>
            <a:r>
              <a:rPr lang="en-US" sz="20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To generate PDF challans and reports</a:t>
            </a:r>
          </a:p>
          <a:p>
            <a:pPr algn="ctr">
              <a:lnSpc>
                <a:spcPts val="2821"/>
              </a:lnSpc>
            </a:pPr>
            <a:r>
              <a:rPr lang="en-US" sz="20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To analyze safety trends using heatmaps</a:t>
            </a:r>
          </a:p>
          <a:p>
            <a:pPr algn="ctr">
              <a:lnSpc>
                <a:spcPts val="2821"/>
              </a:lnSpc>
            </a:pPr>
            <a:r>
              <a:rPr lang="en-US" sz="20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To count the number of people in monitored areas</a:t>
            </a:r>
          </a:p>
          <a:p>
            <a:pPr algn="ctr">
              <a:lnSpc>
                <a:spcPts val="2821"/>
              </a:lnSpc>
            </a:pPr>
            <a:r>
              <a:rPr lang="en-US" sz="20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To calculate a compliance score for safety evaluation</a:t>
            </a:r>
          </a:p>
          <a:p>
            <a:pPr algn="ctr">
              <a:lnSpc>
                <a:spcPts val="2821"/>
              </a:lnSpc>
            </a:pPr>
            <a:r>
              <a:rPr lang="en-US" sz="20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To provide an interactive and user-friendly dashboard</a:t>
            </a:r>
          </a:p>
          <a:p>
            <a:pPr algn="ctr">
              <a:lnSpc>
                <a:spcPts val="2821"/>
              </a:lnSpc>
              <a:spcBef>
                <a:spcPct val="0"/>
              </a:spcBef>
            </a:pPr>
            <a:endParaRPr lang="en-US" sz="201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32383" y="882785"/>
            <a:ext cx="7877024" cy="4130200"/>
            <a:chOff x="0" y="0"/>
            <a:chExt cx="1640780" cy="8603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0780" cy="860318"/>
            </a:xfrm>
            <a:custGeom>
              <a:avLst/>
              <a:gdLst/>
              <a:ahLst/>
              <a:cxnLst/>
              <a:rect l="l" t="t" r="r" b="b"/>
              <a:pathLst>
                <a:path w="1640780" h="860318">
                  <a:moveTo>
                    <a:pt x="22606" y="0"/>
                  </a:moveTo>
                  <a:lnTo>
                    <a:pt x="1618174" y="0"/>
                  </a:lnTo>
                  <a:cubicBezTo>
                    <a:pt x="1630659" y="0"/>
                    <a:pt x="1640780" y="10121"/>
                    <a:pt x="1640780" y="22606"/>
                  </a:cubicBezTo>
                  <a:lnTo>
                    <a:pt x="1640780" y="837713"/>
                  </a:lnTo>
                  <a:cubicBezTo>
                    <a:pt x="1640780" y="843708"/>
                    <a:pt x="1638398" y="849458"/>
                    <a:pt x="1634159" y="853697"/>
                  </a:cubicBezTo>
                  <a:cubicBezTo>
                    <a:pt x="1629920" y="857937"/>
                    <a:pt x="1624170" y="860318"/>
                    <a:pt x="1618174" y="860318"/>
                  </a:cubicBezTo>
                  <a:lnTo>
                    <a:pt x="22606" y="860318"/>
                  </a:lnTo>
                  <a:cubicBezTo>
                    <a:pt x="16610" y="860318"/>
                    <a:pt x="10860" y="857937"/>
                    <a:pt x="6621" y="853697"/>
                  </a:cubicBezTo>
                  <a:cubicBezTo>
                    <a:pt x="2382" y="849458"/>
                    <a:pt x="0" y="843708"/>
                    <a:pt x="0" y="837713"/>
                  </a:cubicBezTo>
                  <a:lnTo>
                    <a:pt x="0" y="22606"/>
                  </a:lnTo>
                  <a:cubicBezTo>
                    <a:pt x="0" y="16610"/>
                    <a:pt x="2382" y="10860"/>
                    <a:pt x="6621" y="6621"/>
                  </a:cubicBezTo>
                  <a:cubicBezTo>
                    <a:pt x="10860" y="2382"/>
                    <a:pt x="16610" y="0"/>
                    <a:pt x="22606" y="0"/>
                  </a:cubicBezTo>
                  <a:close/>
                </a:path>
              </a:pathLst>
            </a:custGeom>
            <a:blipFill>
              <a:blip r:embed="rId2"/>
              <a:stretch>
                <a:fillRect l="-24990" t="-21485" r="-9752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 flipV="1">
            <a:off x="3055214" y="1499085"/>
            <a:ext cx="5968241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7711429" y="11606"/>
            <a:ext cx="576571" cy="508547"/>
            <a:chOff x="0" y="0"/>
            <a:chExt cx="270154" cy="238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154" cy="238281"/>
            </a:xfrm>
            <a:custGeom>
              <a:avLst/>
              <a:gdLst/>
              <a:ahLst/>
              <a:cxnLst/>
              <a:rect l="l" t="t" r="r" b="b"/>
              <a:pathLst>
                <a:path w="270154" h="238281">
                  <a:moveTo>
                    <a:pt x="119140" y="0"/>
                  </a:moveTo>
                  <a:lnTo>
                    <a:pt x="151014" y="0"/>
                  </a:lnTo>
                  <a:cubicBezTo>
                    <a:pt x="182612" y="0"/>
                    <a:pt x="212915" y="12552"/>
                    <a:pt x="235259" y="34895"/>
                  </a:cubicBezTo>
                  <a:cubicBezTo>
                    <a:pt x="257602" y="57239"/>
                    <a:pt x="270154" y="87542"/>
                    <a:pt x="270154" y="119140"/>
                  </a:cubicBezTo>
                  <a:lnTo>
                    <a:pt x="270154" y="119140"/>
                  </a:lnTo>
                  <a:cubicBezTo>
                    <a:pt x="270154" y="150739"/>
                    <a:pt x="257602" y="181042"/>
                    <a:pt x="235259" y="203386"/>
                  </a:cubicBezTo>
                  <a:cubicBezTo>
                    <a:pt x="212915" y="225729"/>
                    <a:pt x="182612" y="238281"/>
                    <a:pt x="151014" y="238281"/>
                  </a:cubicBezTo>
                  <a:lnTo>
                    <a:pt x="119140" y="238281"/>
                  </a:lnTo>
                  <a:cubicBezTo>
                    <a:pt x="87542" y="238281"/>
                    <a:pt x="57239" y="225729"/>
                    <a:pt x="34895" y="203386"/>
                  </a:cubicBezTo>
                  <a:cubicBezTo>
                    <a:pt x="12552" y="181042"/>
                    <a:pt x="0" y="150739"/>
                    <a:pt x="0" y="119140"/>
                  </a:cubicBezTo>
                  <a:lnTo>
                    <a:pt x="0" y="119140"/>
                  </a:lnTo>
                  <a:cubicBezTo>
                    <a:pt x="0" y="87542"/>
                    <a:pt x="12552" y="57239"/>
                    <a:pt x="34895" y="34895"/>
                  </a:cubicBezTo>
                  <a:cubicBezTo>
                    <a:pt x="57239" y="12552"/>
                    <a:pt x="87542" y="0"/>
                    <a:pt x="11914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70154" cy="295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94218" y="882785"/>
            <a:ext cx="321485" cy="371204"/>
          </a:xfrm>
          <a:custGeom>
            <a:avLst/>
            <a:gdLst/>
            <a:ahLst/>
            <a:cxnLst/>
            <a:rect l="l" t="t" r="r" b="b"/>
            <a:pathLst>
              <a:path w="321485" h="371204">
                <a:moveTo>
                  <a:pt x="0" y="0"/>
                </a:moveTo>
                <a:lnTo>
                  <a:pt x="321485" y="0"/>
                </a:lnTo>
                <a:lnTo>
                  <a:pt x="321485" y="371204"/>
                </a:lnTo>
                <a:lnTo>
                  <a:pt x="0" y="371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225556" y="5115352"/>
            <a:ext cx="881574" cy="88157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839202" y="105367"/>
            <a:ext cx="321025" cy="32102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0" y="0"/>
            <a:ext cx="1960130" cy="1960130"/>
          </a:xfrm>
          <a:custGeom>
            <a:avLst/>
            <a:gdLst/>
            <a:ahLst/>
            <a:cxnLst/>
            <a:rect l="l" t="t" r="r" b="b"/>
            <a:pathLst>
              <a:path w="1960130" h="1960130">
                <a:moveTo>
                  <a:pt x="0" y="0"/>
                </a:moveTo>
                <a:lnTo>
                  <a:pt x="1960130" y="0"/>
                </a:lnTo>
                <a:lnTo>
                  <a:pt x="1960130" y="1960130"/>
                </a:lnTo>
                <a:lnTo>
                  <a:pt x="0" y="1960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751326" y="291624"/>
            <a:ext cx="6576016" cy="101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29"/>
              </a:lnSpc>
            </a:pPr>
            <a:r>
              <a:rPr lang="en-US" sz="675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 FEATURES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5894" y="3031979"/>
            <a:ext cx="6849496" cy="580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8"/>
              </a:lnSpc>
            </a:pPr>
            <a:r>
              <a:rPr lang="en-US" sz="20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Real-Time PPE Violation Detection</a:t>
            </a:r>
          </a:p>
          <a:p>
            <a:pPr algn="just">
              <a:lnSpc>
                <a:spcPts val="3548"/>
              </a:lnSpc>
            </a:pPr>
            <a:r>
              <a:rPr lang="en-US" sz="20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Automatic Violation Logging</a:t>
            </a:r>
          </a:p>
          <a:p>
            <a:pPr algn="just">
              <a:lnSpc>
                <a:spcPts val="3548"/>
              </a:lnSpc>
            </a:pPr>
            <a:r>
              <a:rPr lang="en-US" sz="20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PDF Challan Generation</a:t>
            </a:r>
          </a:p>
          <a:p>
            <a:pPr algn="just">
              <a:lnSpc>
                <a:spcPts val="3548"/>
              </a:lnSpc>
            </a:pPr>
            <a:r>
              <a:rPr lang="en-US" sz="20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Interactive Dashboard</a:t>
            </a:r>
          </a:p>
          <a:p>
            <a:pPr algn="just">
              <a:lnSpc>
                <a:spcPts val="3548"/>
              </a:lnSpc>
            </a:pPr>
            <a:r>
              <a:rPr lang="en-US" sz="20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Heatmap Visualization of Violation Zones</a:t>
            </a:r>
          </a:p>
          <a:p>
            <a:pPr algn="just">
              <a:lnSpc>
                <a:spcPts val="3548"/>
              </a:lnSpc>
            </a:pPr>
            <a:r>
              <a:rPr lang="en-US" sz="20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Occupancy Count (Number of People Detected)</a:t>
            </a:r>
          </a:p>
          <a:p>
            <a:pPr algn="just">
              <a:lnSpc>
                <a:spcPts val="3548"/>
              </a:lnSpc>
            </a:pPr>
            <a:r>
              <a:rPr lang="en-US" sz="20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Compliance Score for Safety Evaluation</a:t>
            </a:r>
          </a:p>
          <a:p>
            <a:pPr algn="just">
              <a:lnSpc>
                <a:spcPts val="3548"/>
              </a:lnSpc>
            </a:pPr>
            <a:r>
              <a:rPr lang="en-US" sz="20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Configurable Alerts and Thresholds</a:t>
            </a:r>
          </a:p>
          <a:p>
            <a:pPr algn="just">
              <a:lnSpc>
                <a:spcPts val="3548"/>
              </a:lnSpc>
            </a:pPr>
            <a:r>
              <a:rPr lang="en-US" sz="20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Heatmap Visualization of Violation Zones</a:t>
            </a:r>
          </a:p>
          <a:p>
            <a:pPr algn="just">
              <a:lnSpc>
                <a:spcPts val="3548"/>
              </a:lnSpc>
            </a:pPr>
            <a:r>
              <a:rPr lang="en-US" sz="20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COMPLIANCE SCORE FEATURE</a:t>
            </a:r>
          </a:p>
          <a:p>
            <a:pPr algn="just">
              <a:lnSpc>
                <a:spcPts val="3548"/>
              </a:lnSpc>
            </a:pPr>
            <a:r>
              <a:rPr lang="en-US" sz="20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OCCUPANCY COUNT FEATURE</a:t>
            </a:r>
          </a:p>
          <a:p>
            <a:pPr algn="just">
              <a:lnSpc>
                <a:spcPts val="3548"/>
              </a:lnSpc>
            </a:pPr>
            <a:endParaRPr lang="en-US" sz="2087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48"/>
              </a:lnSpc>
            </a:pPr>
            <a:endParaRPr lang="en-US" sz="2087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6298BA-EC3A-D159-E601-9FA513F73F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7970" y="5491962"/>
            <a:ext cx="6324600" cy="43890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75112" y="749238"/>
            <a:ext cx="7220491" cy="3911067"/>
            <a:chOff x="0" y="0"/>
            <a:chExt cx="1054569" cy="6218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4569" cy="621887"/>
            </a:xfrm>
            <a:custGeom>
              <a:avLst/>
              <a:gdLst/>
              <a:ahLst/>
              <a:cxnLst/>
              <a:rect l="l" t="t" r="r" b="b"/>
              <a:pathLst>
                <a:path w="1054569" h="621887">
                  <a:moveTo>
                    <a:pt x="23896" y="0"/>
                  </a:moveTo>
                  <a:lnTo>
                    <a:pt x="1030673" y="0"/>
                  </a:lnTo>
                  <a:cubicBezTo>
                    <a:pt x="1043871" y="0"/>
                    <a:pt x="1054569" y="10699"/>
                    <a:pt x="1054569" y="23896"/>
                  </a:cubicBezTo>
                  <a:lnTo>
                    <a:pt x="1054569" y="597991"/>
                  </a:lnTo>
                  <a:cubicBezTo>
                    <a:pt x="1054569" y="611188"/>
                    <a:pt x="1043871" y="621887"/>
                    <a:pt x="1030673" y="621887"/>
                  </a:cubicBezTo>
                  <a:lnTo>
                    <a:pt x="23896" y="621887"/>
                  </a:lnTo>
                  <a:cubicBezTo>
                    <a:pt x="10699" y="621887"/>
                    <a:pt x="0" y="611188"/>
                    <a:pt x="0" y="597991"/>
                  </a:cubicBezTo>
                  <a:lnTo>
                    <a:pt x="0" y="23896"/>
                  </a:lnTo>
                  <a:cubicBezTo>
                    <a:pt x="0" y="10699"/>
                    <a:pt x="10699" y="0"/>
                    <a:pt x="23896" y="0"/>
                  </a:cubicBezTo>
                  <a:close/>
                </a:path>
              </a:pathLst>
            </a:custGeom>
            <a:blipFill>
              <a:blip r:embed="rId2"/>
              <a:stretch>
                <a:fillRect t="-1612" r="-21272" b="-161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033425" y="1373459"/>
            <a:ext cx="5991550" cy="3261036"/>
            <a:chOff x="0" y="0"/>
            <a:chExt cx="1989981" cy="10499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9981" cy="1049907"/>
            </a:xfrm>
            <a:custGeom>
              <a:avLst/>
              <a:gdLst/>
              <a:ahLst/>
              <a:cxnLst/>
              <a:rect l="l" t="t" r="r" b="b"/>
              <a:pathLst>
                <a:path w="1989981" h="1049907">
                  <a:moveTo>
                    <a:pt x="51873" y="0"/>
                  </a:moveTo>
                  <a:lnTo>
                    <a:pt x="1938108" y="0"/>
                  </a:lnTo>
                  <a:cubicBezTo>
                    <a:pt x="1951866" y="0"/>
                    <a:pt x="1965060" y="5465"/>
                    <a:pt x="1974788" y="15193"/>
                  </a:cubicBezTo>
                  <a:cubicBezTo>
                    <a:pt x="1984516" y="24921"/>
                    <a:pt x="1989981" y="38115"/>
                    <a:pt x="1989981" y="51873"/>
                  </a:cubicBezTo>
                  <a:lnTo>
                    <a:pt x="1989981" y="998035"/>
                  </a:lnTo>
                  <a:cubicBezTo>
                    <a:pt x="1989981" y="1011792"/>
                    <a:pt x="1984516" y="1024986"/>
                    <a:pt x="1974788" y="1034714"/>
                  </a:cubicBezTo>
                  <a:cubicBezTo>
                    <a:pt x="1965060" y="1044442"/>
                    <a:pt x="1951866" y="1049907"/>
                    <a:pt x="1938108" y="1049907"/>
                  </a:cubicBezTo>
                  <a:lnTo>
                    <a:pt x="51873" y="1049907"/>
                  </a:lnTo>
                  <a:cubicBezTo>
                    <a:pt x="38115" y="1049907"/>
                    <a:pt x="24921" y="1044442"/>
                    <a:pt x="15193" y="1034714"/>
                  </a:cubicBezTo>
                  <a:cubicBezTo>
                    <a:pt x="5465" y="1024986"/>
                    <a:pt x="0" y="1011792"/>
                    <a:pt x="0" y="998035"/>
                  </a:cubicBezTo>
                  <a:lnTo>
                    <a:pt x="0" y="51873"/>
                  </a:lnTo>
                  <a:cubicBezTo>
                    <a:pt x="0" y="38115"/>
                    <a:pt x="5465" y="24921"/>
                    <a:pt x="15193" y="15193"/>
                  </a:cubicBezTo>
                  <a:cubicBezTo>
                    <a:pt x="24921" y="5465"/>
                    <a:pt x="38115" y="0"/>
                    <a:pt x="5187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989981" cy="1107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92270" y="5572339"/>
            <a:ext cx="881574" cy="88157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120145" y="5700214"/>
            <a:ext cx="625825" cy="62582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0" y="0"/>
            <a:ext cx="1945441" cy="1945441"/>
          </a:xfrm>
          <a:custGeom>
            <a:avLst/>
            <a:gdLst/>
            <a:ahLst/>
            <a:cxnLst/>
            <a:rect l="l" t="t" r="r" b="b"/>
            <a:pathLst>
              <a:path w="1945441" h="1945441">
                <a:moveTo>
                  <a:pt x="0" y="0"/>
                </a:moveTo>
                <a:lnTo>
                  <a:pt x="1945441" y="0"/>
                </a:lnTo>
                <a:lnTo>
                  <a:pt x="1945441" y="1945441"/>
                </a:lnTo>
                <a:lnTo>
                  <a:pt x="0" y="19454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610162" y="5572339"/>
            <a:ext cx="8163146" cy="4114800"/>
            <a:chOff x="0" y="0"/>
            <a:chExt cx="924832" cy="4661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24832" cy="466180"/>
            </a:xfrm>
            <a:custGeom>
              <a:avLst/>
              <a:gdLst/>
              <a:ahLst/>
              <a:cxnLst/>
              <a:rect l="l" t="t" r="r" b="b"/>
              <a:pathLst>
                <a:path w="924832" h="466180">
                  <a:moveTo>
                    <a:pt x="21813" y="0"/>
                  </a:moveTo>
                  <a:lnTo>
                    <a:pt x="903019" y="0"/>
                  </a:lnTo>
                  <a:cubicBezTo>
                    <a:pt x="915066" y="0"/>
                    <a:pt x="924832" y="9766"/>
                    <a:pt x="924832" y="21813"/>
                  </a:cubicBezTo>
                  <a:lnTo>
                    <a:pt x="924832" y="444367"/>
                  </a:lnTo>
                  <a:cubicBezTo>
                    <a:pt x="924832" y="456414"/>
                    <a:pt x="915066" y="466180"/>
                    <a:pt x="903019" y="466180"/>
                  </a:cubicBezTo>
                  <a:lnTo>
                    <a:pt x="21813" y="466180"/>
                  </a:lnTo>
                  <a:cubicBezTo>
                    <a:pt x="9766" y="466180"/>
                    <a:pt x="0" y="456414"/>
                    <a:pt x="0" y="444367"/>
                  </a:cubicBezTo>
                  <a:lnTo>
                    <a:pt x="0" y="21813"/>
                  </a:lnTo>
                  <a:cubicBezTo>
                    <a:pt x="0" y="9766"/>
                    <a:pt x="9766" y="0"/>
                    <a:pt x="21813" y="0"/>
                  </a:cubicBezTo>
                  <a:close/>
                </a:path>
              </a:pathLst>
            </a:custGeom>
            <a:blipFill>
              <a:blip r:embed="rId4"/>
              <a:stretch>
                <a:fillRect l="-1039" t="-1540" r="-4195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2514600" y="342900"/>
            <a:ext cx="5333999" cy="768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11"/>
              </a:lnSpc>
            </a:pPr>
            <a:r>
              <a:rPr lang="en-US" sz="4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PAGES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14694" y="6254576"/>
            <a:ext cx="2220106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Challan PDF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12744" y="5086350"/>
            <a:ext cx="1713428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Home Page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12045" y="4432300"/>
            <a:ext cx="7451603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endParaRPr dirty="0"/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Settings Page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FE20BD-4D9B-55BA-9CEB-96A9F7DC6ECA}"/>
              </a:ext>
            </a:extLst>
          </p:cNvPr>
          <p:cNvSpPr txBox="1"/>
          <p:nvPr/>
        </p:nvSpPr>
        <p:spPr>
          <a:xfrm>
            <a:off x="2514600" y="1853124"/>
            <a:ext cx="5029200" cy="2133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 Page – Project overview and system status</a:t>
            </a:r>
          </a:p>
          <a:p>
            <a:pPr algn="just">
              <a:lnSpc>
                <a:spcPts val="2660"/>
              </a:lnSpc>
            </a:pPr>
            <a:r>
              <a:rPr lang="en-US" sz="1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Live Monitor Page – Real-time detection view</a:t>
            </a:r>
          </a:p>
          <a:p>
            <a:pPr algn="just">
              <a:lnSpc>
                <a:spcPts val="2660"/>
              </a:lnSpc>
            </a:pPr>
            <a:r>
              <a:rPr lang="en-US" sz="1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Analytics Page – Charts, heatmap, occupancy, compliance score</a:t>
            </a:r>
          </a:p>
          <a:p>
            <a:pPr algn="just">
              <a:lnSpc>
                <a:spcPts val="2660"/>
              </a:lnSpc>
            </a:pPr>
            <a:r>
              <a:rPr lang="en-US" sz="1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Reports Page – Violation images and PDF challans</a:t>
            </a:r>
          </a:p>
          <a:p>
            <a:pPr algn="just">
              <a:lnSpc>
                <a:spcPts val="2660"/>
              </a:lnSpc>
            </a:pPr>
            <a:r>
              <a:rPr lang="en-US" sz="1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Settings Page – Thresholds, alerts, email options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51EA22F-3053-6F2F-47F0-A5150321B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5952" y="5277934"/>
            <a:ext cx="4602879" cy="48162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50621" y="764048"/>
            <a:ext cx="608679" cy="608679"/>
            <a:chOff x="0" y="0"/>
            <a:chExt cx="285198" cy="2851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198" cy="285198"/>
            </a:xfrm>
            <a:custGeom>
              <a:avLst/>
              <a:gdLst/>
              <a:ahLst/>
              <a:cxnLst/>
              <a:rect l="l" t="t" r="r" b="b"/>
              <a:pathLst>
                <a:path w="285198" h="285198">
                  <a:moveTo>
                    <a:pt x="142599" y="0"/>
                  </a:moveTo>
                  <a:lnTo>
                    <a:pt x="142599" y="0"/>
                  </a:lnTo>
                  <a:cubicBezTo>
                    <a:pt x="180419" y="0"/>
                    <a:pt x="216689" y="15024"/>
                    <a:pt x="243432" y="41766"/>
                  </a:cubicBezTo>
                  <a:cubicBezTo>
                    <a:pt x="270174" y="68509"/>
                    <a:pt x="285198" y="104779"/>
                    <a:pt x="285198" y="142599"/>
                  </a:cubicBezTo>
                  <a:lnTo>
                    <a:pt x="285198" y="142599"/>
                  </a:lnTo>
                  <a:cubicBezTo>
                    <a:pt x="285198" y="221354"/>
                    <a:pt x="221354" y="285198"/>
                    <a:pt x="142599" y="285198"/>
                  </a:cubicBezTo>
                  <a:lnTo>
                    <a:pt x="142599" y="285198"/>
                  </a:lnTo>
                  <a:cubicBezTo>
                    <a:pt x="63844" y="285198"/>
                    <a:pt x="0" y="221354"/>
                    <a:pt x="0" y="142599"/>
                  </a:cubicBezTo>
                  <a:lnTo>
                    <a:pt x="0" y="142599"/>
                  </a:lnTo>
                  <a:cubicBezTo>
                    <a:pt x="0" y="63844"/>
                    <a:pt x="63844" y="0"/>
                    <a:pt x="1425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85198" cy="342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37278" y="2134201"/>
            <a:ext cx="881574" cy="88157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165152" y="2262075"/>
            <a:ext cx="625825" cy="62582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105427" y="7203916"/>
            <a:ext cx="321025" cy="32102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0" y="0"/>
            <a:ext cx="1911676" cy="1911676"/>
          </a:xfrm>
          <a:custGeom>
            <a:avLst/>
            <a:gdLst/>
            <a:ahLst/>
            <a:cxnLst/>
            <a:rect l="l" t="t" r="r" b="b"/>
            <a:pathLst>
              <a:path w="1911676" h="1911676">
                <a:moveTo>
                  <a:pt x="0" y="0"/>
                </a:moveTo>
                <a:lnTo>
                  <a:pt x="1911676" y="0"/>
                </a:lnTo>
                <a:lnTo>
                  <a:pt x="1911676" y="1911676"/>
                </a:lnTo>
                <a:lnTo>
                  <a:pt x="0" y="19116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47800" y="1632570"/>
            <a:ext cx="7473153" cy="3700778"/>
          </a:xfrm>
          <a:custGeom>
            <a:avLst/>
            <a:gdLst/>
            <a:ahLst/>
            <a:cxnLst/>
            <a:rect l="l" t="t" r="r" b="b"/>
            <a:pathLst>
              <a:path w="7473153" h="3700778">
                <a:moveTo>
                  <a:pt x="0" y="0"/>
                </a:moveTo>
                <a:lnTo>
                  <a:pt x="7473153" y="0"/>
                </a:lnTo>
                <a:lnTo>
                  <a:pt x="7473153" y="3700779"/>
                </a:lnTo>
                <a:lnTo>
                  <a:pt x="0" y="37007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050" t="-648" b="-1389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06773" y="5950667"/>
            <a:ext cx="8214180" cy="3712692"/>
          </a:xfrm>
          <a:custGeom>
            <a:avLst/>
            <a:gdLst/>
            <a:ahLst/>
            <a:cxnLst/>
            <a:rect l="l" t="t" r="r" b="b"/>
            <a:pathLst>
              <a:path w="8214180" h="3712692">
                <a:moveTo>
                  <a:pt x="0" y="0"/>
                </a:moveTo>
                <a:lnTo>
                  <a:pt x="8214180" y="0"/>
                </a:lnTo>
                <a:lnTo>
                  <a:pt x="8214180" y="3712692"/>
                </a:lnTo>
                <a:lnTo>
                  <a:pt x="0" y="3712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792" r="-212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7" name="Freeform 17"/>
          <p:cNvSpPr/>
          <p:nvPr/>
        </p:nvSpPr>
        <p:spPr>
          <a:xfrm>
            <a:off x="9601200" y="1654422"/>
            <a:ext cx="8100056" cy="3828653"/>
          </a:xfrm>
          <a:custGeom>
            <a:avLst/>
            <a:gdLst/>
            <a:ahLst/>
            <a:cxnLst/>
            <a:rect l="l" t="t" r="r" b="b"/>
            <a:pathLst>
              <a:path w="8100056" h="3828653">
                <a:moveTo>
                  <a:pt x="0" y="0"/>
                </a:moveTo>
                <a:lnTo>
                  <a:pt x="8100056" y="0"/>
                </a:lnTo>
                <a:lnTo>
                  <a:pt x="8100056" y="3828653"/>
                </a:lnTo>
                <a:lnTo>
                  <a:pt x="0" y="38286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335" r="-5105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732306" y="642077"/>
            <a:ext cx="7403216" cy="812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04"/>
              </a:lnSpc>
            </a:pPr>
            <a:r>
              <a:rPr lang="en-US" sz="36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PAGES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6804041"/>
            <a:ext cx="2451973" cy="70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endParaRPr dirty="0"/>
          </a:p>
          <a:p>
            <a:pPr algn="ctr">
              <a:lnSpc>
                <a:spcPts val="2799"/>
              </a:lnSpc>
              <a:spcBef>
                <a:spcPct val="0"/>
              </a:spcBef>
            </a:pPr>
            <a:endParaRPr lang="en-US" sz="19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410FBF4-7C1C-66C7-15BC-7E3AAADC06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5993249"/>
            <a:ext cx="8114479" cy="367011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98F2738-2EDF-0977-FDB4-8A4BD1F5AC7E}"/>
              </a:ext>
            </a:extLst>
          </p:cNvPr>
          <p:cNvSpPr txBox="1"/>
          <p:nvPr/>
        </p:nvSpPr>
        <p:spPr>
          <a:xfrm>
            <a:off x="13716000" y="571923"/>
            <a:ext cx="3543300" cy="426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Reports Pages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820A19-D999-51A8-36BD-B09E1673C79E}"/>
              </a:ext>
            </a:extLst>
          </p:cNvPr>
          <p:cNvSpPr txBox="1"/>
          <p:nvPr/>
        </p:nvSpPr>
        <p:spPr>
          <a:xfrm>
            <a:off x="11396356" y="495300"/>
            <a:ext cx="2624444" cy="792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Live monitoring </a:t>
            </a:r>
            <a:r>
              <a:rPr kumimoji="0" lang="en-US" sz="1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Page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50621" y="764048"/>
            <a:ext cx="608679" cy="608679"/>
            <a:chOff x="0" y="0"/>
            <a:chExt cx="285198" cy="2851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198" cy="285198"/>
            </a:xfrm>
            <a:custGeom>
              <a:avLst/>
              <a:gdLst/>
              <a:ahLst/>
              <a:cxnLst/>
              <a:rect l="l" t="t" r="r" b="b"/>
              <a:pathLst>
                <a:path w="285198" h="285198">
                  <a:moveTo>
                    <a:pt x="142599" y="0"/>
                  </a:moveTo>
                  <a:lnTo>
                    <a:pt x="142599" y="0"/>
                  </a:lnTo>
                  <a:cubicBezTo>
                    <a:pt x="180419" y="0"/>
                    <a:pt x="216689" y="15024"/>
                    <a:pt x="243432" y="41766"/>
                  </a:cubicBezTo>
                  <a:cubicBezTo>
                    <a:pt x="270174" y="68509"/>
                    <a:pt x="285198" y="104779"/>
                    <a:pt x="285198" y="142599"/>
                  </a:cubicBezTo>
                  <a:lnTo>
                    <a:pt x="285198" y="142599"/>
                  </a:lnTo>
                  <a:cubicBezTo>
                    <a:pt x="285198" y="221354"/>
                    <a:pt x="221354" y="285198"/>
                    <a:pt x="142599" y="285198"/>
                  </a:cubicBezTo>
                  <a:lnTo>
                    <a:pt x="142599" y="285198"/>
                  </a:lnTo>
                  <a:cubicBezTo>
                    <a:pt x="63844" y="285198"/>
                    <a:pt x="0" y="221354"/>
                    <a:pt x="0" y="142599"/>
                  </a:cubicBezTo>
                  <a:lnTo>
                    <a:pt x="0" y="142599"/>
                  </a:lnTo>
                  <a:cubicBezTo>
                    <a:pt x="0" y="63844"/>
                    <a:pt x="63844" y="0"/>
                    <a:pt x="1425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85198" cy="342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4281" y="6226903"/>
            <a:ext cx="881574" cy="88157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99763" y="6376779"/>
            <a:ext cx="625825" cy="62582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422698" y="2621145"/>
            <a:ext cx="321025" cy="32102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0" y="-126592"/>
            <a:ext cx="1942051" cy="1942051"/>
          </a:xfrm>
          <a:custGeom>
            <a:avLst/>
            <a:gdLst/>
            <a:ahLst/>
            <a:cxnLst/>
            <a:rect l="l" t="t" r="r" b="b"/>
            <a:pathLst>
              <a:path w="1942051" h="1942051">
                <a:moveTo>
                  <a:pt x="0" y="0"/>
                </a:moveTo>
                <a:lnTo>
                  <a:pt x="1942051" y="0"/>
                </a:lnTo>
                <a:lnTo>
                  <a:pt x="1942051" y="1942051"/>
                </a:lnTo>
                <a:lnTo>
                  <a:pt x="0" y="19420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945022" y="1257300"/>
            <a:ext cx="11761578" cy="1922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78"/>
              </a:lnSpc>
            </a:pPr>
            <a:r>
              <a:rPr lang="en-US" sz="4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DATASET,TRAINING &amp; PERFORMANCE OVERVIEW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ABD2266-80AA-CA27-8302-21D790590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3424278"/>
            <a:ext cx="12340330" cy="66722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085FEAD-AA60-4FE0-86DF-4F928B4D2CC0}"/>
              </a:ext>
            </a:extLst>
          </p:cNvPr>
          <p:cNvSpPr txBox="1"/>
          <p:nvPr/>
        </p:nvSpPr>
        <p:spPr>
          <a:xfrm>
            <a:off x="2945022" y="4000502"/>
            <a:ext cx="955177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bg1"/>
                </a:solidFill>
              </a:rPr>
              <a:t>• </a:t>
            </a:r>
            <a:r>
              <a:rPr lang="en-IN" sz="2400" b="1" dirty="0">
                <a:solidFill>
                  <a:schemeClr val="bg1"/>
                </a:solidFill>
              </a:rPr>
              <a:t>Dataset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Combination of public PPE datasets and manually annotated samples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(~3,000–5,000 images) covering Helmet, Mask, Safety Vest, No-PPE cases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Includes varied lighting, camera angles, and real-world CCTV scenarios</a:t>
            </a:r>
          </a:p>
          <a:p>
            <a:pPr>
              <a:buNone/>
            </a:pPr>
            <a:r>
              <a:rPr lang="en-IN" sz="2400" dirty="0">
                <a:solidFill>
                  <a:schemeClr val="bg1"/>
                </a:solidFill>
              </a:rPr>
              <a:t>• </a:t>
            </a:r>
            <a:r>
              <a:rPr lang="en-IN" sz="2400" b="1" dirty="0">
                <a:solidFill>
                  <a:schemeClr val="bg1"/>
                </a:solidFill>
              </a:rPr>
              <a:t>Classes Used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Helmet / No Helmet, Mask / No Mask, Vest / No Vest, Person</a:t>
            </a:r>
          </a:p>
          <a:p>
            <a:pPr>
              <a:buNone/>
            </a:pPr>
            <a:r>
              <a:rPr lang="en-IN" sz="2400" dirty="0">
                <a:solidFill>
                  <a:schemeClr val="bg1"/>
                </a:solidFill>
              </a:rPr>
              <a:t>• </a:t>
            </a:r>
            <a:r>
              <a:rPr lang="en-IN" sz="2400" b="1" dirty="0">
                <a:solidFill>
                  <a:schemeClr val="bg1"/>
                </a:solidFill>
              </a:rPr>
              <a:t>Model Training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YOLOv8 pretrained model (COCO weights)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Fine-tuned using transfer learning for PPE-specific detection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Input size: 640 × 640</a:t>
            </a:r>
          </a:p>
          <a:p>
            <a:pPr>
              <a:buNone/>
            </a:pPr>
            <a:r>
              <a:rPr lang="en-IN" sz="2400" dirty="0">
                <a:solidFill>
                  <a:schemeClr val="bg1"/>
                </a:solidFill>
              </a:rPr>
              <a:t>• </a:t>
            </a:r>
            <a:r>
              <a:rPr lang="en-IN" sz="2400" b="1" dirty="0">
                <a:solidFill>
                  <a:schemeClr val="bg1"/>
                </a:solidFill>
              </a:rPr>
              <a:t>Performance (Observed)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Detection Accuracy: ~85–90% (varies with lighting &amp; pose)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Real-Time Speed: ~20–25 FPS on live webcam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Optimized for real-time monitoring with balanced precision &amp; recall</a:t>
            </a:r>
          </a:p>
          <a:p>
            <a:pPr>
              <a:buNone/>
            </a:pPr>
            <a:r>
              <a:rPr lang="en-IN" sz="2400" dirty="0">
                <a:solidFill>
                  <a:schemeClr val="bg1"/>
                </a:solidFill>
              </a:rPr>
              <a:t>📌 </a:t>
            </a:r>
            <a:r>
              <a:rPr lang="en-IN" sz="2400" i="1" dirty="0">
                <a:solidFill>
                  <a:schemeClr val="bg1"/>
                </a:solidFill>
              </a:rPr>
              <a:t>Performance may vary based on camera quality and hardware configuration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50621" y="764048"/>
            <a:ext cx="608679" cy="608679"/>
            <a:chOff x="0" y="0"/>
            <a:chExt cx="285198" cy="2851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198" cy="285198"/>
            </a:xfrm>
            <a:custGeom>
              <a:avLst/>
              <a:gdLst/>
              <a:ahLst/>
              <a:cxnLst/>
              <a:rect l="l" t="t" r="r" b="b"/>
              <a:pathLst>
                <a:path w="285198" h="285198">
                  <a:moveTo>
                    <a:pt x="142599" y="0"/>
                  </a:moveTo>
                  <a:lnTo>
                    <a:pt x="142599" y="0"/>
                  </a:lnTo>
                  <a:cubicBezTo>
                    <a:pt x="180419" y="0"/>
                    <a:pt x="216689" y="15024"/>
                    <a:pt x="243432" y="41766"/>
                  </a:cubicBezTo>
                  <a:cubicBezTo>
                    <a:pt x="270174" y="68509"/>
                    <a:pt x="285198" y="104779"/>
                    <a:pt x="285198" y="142599"/>
                  </a:cubicBezTo>
                  <a:lnTo>
                    <a:pt x="285198" y="142599"/>
                  </a:lnTo>
                  <a:cubicBezTo>
                    <a:pt x="285198" y="221354"/>
                    <a:pt x="221354" y="285198"/>
                    <a:pt x="142599" y="285198"/>
                  </a:cubicBezTo>
                  <a:lnTo>
                    <a:pt x="142599" y="285198"/>
                  </a:lnTo>
                  <a:cubicBezTo>
                    <a:pt x="63844" y="285198"/>
                    <a:pt x="0" y="221354"/>
                    <a:pt x="0" y="142599"/>
                  </a:cubicBezTo>
                  <a:lnTo>
                    <a:pt x="0" y="142599"/>
                  </a:lnTo>
                  <a:cubicBezTo>
                    <a:pt x="0" y="63844"/>
                    <a:pt x="63844" y="0"/>
                    <a:pt x="1425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85198" cy="342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403970" y="324699"/>
            <a:ext cx="7332084" cy="165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28"/>
              </a:lnSpc>
            </a:pPr>
            <a:r>
              <a:rPr lang="en-US" sz="582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 ARCITECTURE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403970" y="3007758"/>
            <a:ext cx="9246651" cy="6451727"/>
            <a:chOff x="0" y="0"/>
            <a:chExt cx="2977007" cy="20771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77007" cy="2077167"/>
            </a:xfrm>
            <a:custGeom>
              <a:avLst/>
              <a:gdLst/>
              <a:ahLst/>
              <a:cxnLst/>
              <a:rect l="l" t="t" r="r" b="b"/>
              <a:pathLst>
                <a:path w="2977007" h="2077167">
                  <a:moveTo>
                    <a:pt x="34674" y="0"/>
                  </a:moveTo>
                  <a:lnTo>
                    <a:pt x="2942333" y="0"/>
                  </a:lnTo>
                  <a:cubicBezTo>
                    <a:pt x="2951529" y="0"/>
                    <a:pt x="2960348" y="3653"/>
                    <a:pt x="2966851" y="10156"/>
                  </a:cubicBezTo>
                  <a:cubicBezTo>
                    <a:pt x="2973354" y="16659"/>
                    <a:pt x="2977007" y="25478"/>
                    <a:pt x="2977007" y="34674"/>
                  </a:cubicBezTo>
                  <a:lnTo>
                    <a:pt x="2977007" y="2042493"/>
                  </a:lnTo>
                  <a:cubicBezTo>
                    <a:pt x="2977007" y="2051689"/>
                    <a:pt x="2973354" y="2060508"/>
                    <a:pt x="2966851" y="2067011"/>
                  </a:cubicBezTo>
                  <a:cubicBezTo>
                    <a:pt x="2960348" y="2073514"/>
                    <a:pt x="2951529" y="2077167"/>
                    <a:pt x="2942333" y="2077167"/>
                  </a:cubicBezTo>
                  <a:lnTo>
                    <a:pt x="34674" y="2077167"/>
                  </a:lnTo>
                  <a:cubicBezTo>
                    <a:pt x="25478" y="2077167"/>
                    <a:pt x="16659" y="2073514"/>
                    <a:pt x="10156" y="2067011"/>
                  </a:cubicBezTo>
                  <a:cubicBezTo>
                    <a:pt x="3653" y="2060508"/>
                    <a:pt x="0" y="2051689"/>
                    <a:pt x="0" y="2042493"/>
                  </a:cubicBezTo>
                  <a:lnTo>
                    <a:pt x="0" y="34674"/>
                  </a:lnTo>
                  <a:cubicBezTo>
                    <a:pt x="0" y="25478"/>
                    <a:pt x="3653" y="16659"/>
                    <a:pt x="10156" y="10156"/>
                  </a:cubicBezTo>
                  <a:cubicBezTo>
                    <a:pt x="16659" y="3653"/>
                    <a:pt x="25478" y="0"/>
                    <a:pt x="3467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977007" cy="2134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328365" y="9459485"/>
            <a:ext cx="1930935" cy="235223"/>
          </a:xfrm>
          <a:custGeom>
            <a:avLst/>
            <a:gdLst/>
            <a:ahLst/>
            <a:cxnLst/>
            <a:rect l="l" t="t" r="r" b="b"/>
            <a:pathLst>
              <a:path w="1930935" h="235223">
                <a:moveTo>
                  <a:pt x="0" y="0"/>
                </a:moveTo>
                <a:lnTo>
                  <a:pt x="1930935" y="0"/>
                </a:lnTo>
                <a:lnTo>
                  <a:pt x="1930935" y="235223"/>
                </a:lnTo>
                <a:lnTo>
                  <a:pt x="0" y="2352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954960" y="9416584"/>
            <a:ext cx="278124" cy="2781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293833" y="0"/>
            <a:ext cx="2043346" cy="2043346"/>
          </a:xfrm>
          <a:custGeom>
            <a:avLst/>
            <a:gdLst/>
            <a:ahLst/>
            <a:cxnLst/>
            <a:rect l="l" t="t" r="r" b="b"/>
            <a:pathLst>
              <a:path w="2043346" h="2043346">
                <a:moveTo>
                  <a:pt x="0" y="0"/>
                </a:moveTo>
                <a:lnTo>
                  <a:pt x="2043346" y="0"/>
                </a:lnTo>
                <a:lnTo>
                  <a:pt x="2043346" y="2043346"/>
                </a:lnTo>
                <a:lnTo>
                  <a:pt x="0" y="2043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052615" y="3286165"/>
            <a:ext cx="7949360" cy="5799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8"/>
              </a:lnSpc>
            </a:pPr>
            <a:r>
              <a:rPr lang="en-US" sz="15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SafetyEye follows a modular and scalable architecture:</a:t>
            </a:r>
          </a:p>
          <a:p>
            <a:pPr algn="just">
              <a:lnSpc>
                <a:spcPts val="2708"/>
              </a:lnSpc>
            </a:pPr>
            <a:endParaRPr lang="en-US" sz="159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708"/>
              </a:lnSpc>
            </a:pPr>
            <a:r>
              <a:rPr lang="en-US" sz="15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Input Layer:</a:t>
            </a:r>
          </a:p>
          <a:p>
            <a:pPr algn="just">
              <a:lnSpc>
                <a:spcPts val="2708"/>
              </a:lnSpc>
            </a:pPr>
            <a:r>
              <a:rPr lang="en-US" sz="15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Live video feed from webcam, CCTV, or RTSP cameras.</a:t>
            </a:r>
          </a:p>
          <a:p>
            <a:pPr algn="just">
              <a:lnSpc>
                <a:spcPts val="2708"/>
              </a:lnSpc>
            </a:pPr>
            <a:endParaRPr lang="en-US" sz="159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708"/>
              </a:lnSpc>
            </a:pPr>
            <a:r>
              <a:rPr lang="en-US" sz="15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AI Processing Layer:</a:t>
            </a:r>
          </a:p>
          <a:p>
            <a:pPr algn="just">
              <a:lnSpc>
                <a:spcPts val="2708"/>
              </a:lnSpc>
            </a:pPr>
            <a:r>
              <a:rPr lang="en-US" sz="15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YOLOv8 model detects PPE items and violations with bounding boxes and confidence scores.</a:t>
            </a:r>
          </a:p>
          <a:p>
            <a:pPr algn="just">
              <a:lnSpc>
                <a:spcPts val="2708"/>
              </a:lnSpc>
            </a:pPr>
            <a:endParaRPr lang="en-US" sz="159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708"/>
              </a:lnSpc>
            </a:pPr>
            <a:r>
              <a:rPr lang="en-US" sz="15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Backend Layer:</a:t>
            </a:r>
          </a:p>
          <a:p>
            <a:pPr algn="just">
              <a:lnSpc>
                <a:spcPts val="2708"/>
              </a:lnSpc>
            </a:pPr>
            <a:r>
              <a:rPr lang="en-US" sz="15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Violation logging, image storage, PDF challan generation, and analytics computation.</a:t>
            </a:r>
          </a:p>
          <a:p>
            <a:pPr algn="just">
              <a:lnSpc>
                <a:spcPts val="2708"/>
              </a:lnSpc>
            </a:pPr>
            <a:endParaRPr lang="en-US" sz="159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708"/>
              </a:lnSpc>
            </a:pPr>
            <a:r>
              <a:rPr lang="en-US" sz="15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Frontend Layer:</a:t>
            </a:r>
          </a:p>
          <a:p>
            <a:pPr algn="just">
              <a:lnSpc>
                <a:spcPts val="2708"/>
              </a:lnSpc>
            </a:pPr>
            <a:r>
              <a:rPr lang="en-US" sz="15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Streamlit-based dashboard displaying live feed, analytics, reports, and settings.</a:t>
            </a:r>
          </a:p>
          <a:p>
            <a:pPr algn="just">
              <a:lnSpc>
                <a:spcPts val="2708"/>
              </a:lnSpc>
            </a:pPr>
            <a:endParaRPr lang="en-US" sz="159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028700" y="2043346"/>
            <a:ext cx="6113872" cy="7126812"/>
            <a:chOff x="0" y="0"/>
            <a:chExt cx="947199" cy="11041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47199" cy="1104130"/>
            </a:xfrm>
            <a:custGeom>
              <a:avLst/>
              <a:gdLst/>
              <a:ahLst/>
              <a:cxnLst/>
              <a:rect l="l" t="t" r="r" b="b"/>
              <a:pathLst>
                <a:path w="947199" h="1104130">
                  <a:moveTo>
                    <a:pt x="29125" y="0"/>
                  </a:moveTo>
                  <a:lnTo>
                    <a:pt x="918074" y="0"/>
                  </a:lnTo>
                  <a:cubicBezTo>
                    <a:pt x="925799" y="0"/>
                    <a:pt x="933206" y="3068"/>
                    <a:pt x="938668" y="8530"/>
                  </a:cubicBezTo>
                  <a:cubicBezTo>
                    <a:pt x="944130" y="13992"/>
                    <a:pt x="947199" y="21400"/>
                    <a:pt x="947199" y="29125"/>
                  </a:cubicBezTo>
                  <a:lnTo>
                    <a:pt x="947199" y="1075005"/>
                  </a:lnTo>
                  <a:cubicBezTo>
                    <a:pt x="947199" y="1091090"/>
                    <a:pt x="934159" y="1104130"/>
                    <a:pt x="918074" y="1104130"/>
                  </a:cubicBezTo>
                  <a:lnTo>
                    <a:pt x="29125" y="1104130"/>
                  </a:lnTo>
                  <a:cubicBezTo>
                    <a:pt x="21400" y="1104130"/>
                    <a:pt x="13992" y="1101061"/>
                    <a:pt x="8530" y="1095599"/>
                  </a:cubicBezTo>
                  <a:cubicBezTo>
                    <a:pt x="3068" y="1090137"/>
                    <a:pt x="0" y="1082730"/>
                    <a:pt x="0" y="1075005"/>
                  </a:cubicBezTo>
                  <a:lnTo>
                    <a:pt x="0" y="29125"/>
                  </a:lnTo>
                  <a:cubicBezTo>
                    <a:pt x="0" y="21400"/>
                    <a:pt x="3068" y="13992"/>
                    <a:pt x="8530" y="8530"/>
                  </a:cubicBezTo>
                  <a:cubicBezTo>
                    <a:pt x="13992" y="3068"/>
                    <a:pt x="21400" y="0"/>
                    <a:pt x="29125" y="0"/>
                  </a:cubicBezTo>
                  <a:close/>
                </a:path>
              </a:pathLst>
            </a:custGeom>
            <a:blipFill>
              <a:blip r:embed="rId5"/>
              <a:stretch>
                <a:fillRect l="-10954" r="-10954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09114" y="670539"/>
            <a:ext cx="10319980" cy="103199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6666" r="-166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393618" y="6367911"/>
            <a:ext cx="881574" cy="88157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521492" y="6495785"/>
            <a:ext cx="625825" cy="62582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285703" y="7923123"/>
            <a:ext cx="321025" cy="32102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0" y="0"/>
            <a:ext cx="1951548" cy="1951548"/>
          </a:xfrm>
          <a:custGeom>
            <a:avLst/>
            <a:gdLst/>
            <a:ahLst/>
            <a:cxnLst/>
            <a:rect l="l" t="t" r="r" b="b"/>
            <a:pathLst>
              <a:path w="1951548" h="1951548">
                <a:moveTo>
                  <a:pt x="0" y="0"/>
                </a:moveTo>
                <a:lnTo>
                  <a:pt x="1951548" y="0"/>
                </a:lnTo>
                <a:lnTo>
                  <a:pt x="1951548" y="1951548"/>
                </a:lnTo>
                <a:lnTo>
                  <a:pt x="0" y="1951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844641" y="1649957"/>
            <a:ext cx="5723858" cy="8361143"/>
          </a:xfrm>
          <a:custGeom>
            <a:avLst/>
            <a:gdLst/>
            <a:ahLst/>
            <a:cxnLst/>
            <a:rect l="l" t="t" r="r" b="b"/>
            <a:pathLst>
              <a:path w="5723858" h="8361143">
                <a:moveTo>
                  <a:pt x="0" y="0"/>
                </a:moveTo>
                <a:lnTo>
                  <a:pt x="5723857" y="0"/>
                </a:lnTo>
                <a:lnTo>
                  <a:pt x="5723857" y="8361143"/>
                </a:lnTo>
                <a:lnTo>
                  <a:pt x="0" y="8361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47" t="-4294" r="-117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025254" y="1596175"/>
            <a:ext cx="7729045" cy="232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02"/>
              </a:lnSpc>
            </a:pPr>
            <a:r>
              <a:rPr lang="en-US" sz="813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WORKFLOW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4506648"/>
            <a:ext cx="6919271" cy="385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Capture live video frames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Preprocess frames and send to YOLOv8 model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Detect PPE compliance or violations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Log violations with timestamp and image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Update analytics (heatmap, occupancy, compliance score)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Display results on dashboard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Generate PDF reports if enabled</a:t>
            </a:r>
          </a:p>
          <a:p>
            <a:pPr algn="just">
              <a:lnSpc>
                <a:spcPts val="3400"/>
              </a:lnSpc>
            </a:pPr>
            <a:endParaRPr lang="en-US"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0" y="1409700"/>
            <a:ext cx="8153400" cy="3124201"/>
            <a:chOff x="0" y="-165365"/>
            <a:chExt cx="2849974" cy="1176832"/>
          </a:xfrm>
        </p:grpSpPr>
        <p:sp>
          <p:nvSpPr>
            <p:cNvPr id="3" name="Freeform 3"/>
            <p:cNvSpPr/>
            <p:nvPr/>
          </p:nvSpPr>
          <p:spPr>
            <a:xfrm>
              <a:off x="79906" y="-165365"/>
              <a:ext cx="2663527" cy="1176832"/>
            </a:xfrm>
            <a:custGeom>
              <a:avLst/>
              <a:gdLst/>
              <a:ahLst/>
              <a:cxnLst/>
              <a:rect l="l" t="t" r="r" b="b"/>
              <a:pathLst>
                <a:path w="2849974" h="1011467">
                  <a:moveTo>
                    <a:pt x="87459" y="0"/>
                  </a:moveTo>
                  <a:lnTo>
                    <a:pt x="2762515" y="0"/>
                  </a:lnTo>
                  <a:cubicBezTo>
                    <a:pt x="2785711" y="0"/>
                    <a:pt x="2807957" y="9214"/>
                    <a:pt x="2824358" y="25616"/>
                  </a:cubicBezTo>
                  <a:cubicBezTo>
                    <a:pt x="2840760" y="42018"/>
                    <a:pt x="2849974" y="64263"/>
                    <a:pt x="2849974" y="87459"/>
                  </a:cubicBezTo>
                  <a:lnTo>
                    <a:pt x="2849974" y="924009"/>
                  </a:lnTo>
                  <a:cubicBezTo>
                    <a:pt x="2849974" y="947204"/>
                    <a:pt x="2840760" y="969449"/>
                    <a:pt x="2824358" y="985851"/>
                  </a:cubicBezTo>
                  <a:cubicBezTo>
                    <a:pt x="2807957" y="1002253"/>
                    <a:pt x="2785711" y="1011467"/>
                    <a:pt x="2762515" y="1011467"/>
                  </a:cubicBezTo>
                  <a:lnTo>
                    <a:pt x="87459" y="1011467"/>
                  </a:lnTo>
                  <a:cubicBezTo>
                    <a:pt x="64263" y="1011467"/>
                    <a:pt x="42018" y="1002253"/>
                    <a:pt x="25616" y="985851"/>
                  </a:cubicBezTo>
                  <a:cubicBezTo>
                    <a:pt x="9214" y="969449"/>
                    <a:pt x="0" y="947204"/>
                    <a:pt x="0" y="924009"/>
                  </a:cubicBezTo>
                  <a:lnTo>
                    <a:pt x="0" y="87459"/>
                  </a:lnTo>
                  <a:cubicBezTo>
                    <a:pt x="0" y="64263"/>
                    <a:pt x="9214" y="42018"/>
                    <a:pt x="25616" y="25616"/>
                  </a:cubicBezTo>
                  <a:cubicBezTo>
                    <a:pt x="42018" y="9214"/>
                    <a:pt x="64263" y="0"/>
                    <a:pt x="874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849974" cy="1068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Real-time detection at 15–25 FPS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High accuracy using YOLOv8 model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Stable logging and PDF generation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Effective visualization of safety data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Reduced manual monitoring effort</a:t>
              </a:r>
            </a:p>
            <a:p>
              <a:pPr algn="ctr">
                <a:lnSpc>
                  <a:spcPts val="2799"/>
                </a:lnSpc>
              </a:pPr>
              <a:endParaRPr lang="en-US" sz="1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85665" y="8354725"/>
            <a:ext cx="881574" cy="88157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113540" y="8504601"/>
            <a:ext cx="625825" cy="62582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64000" y="1071805"/>
            <a:ext cx="321025" cy="32102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0" y="0"/>
            <a:ext cx="1925888" cy="1925888"/>
          </a:xfrm>
          <a:custGeom>
            <a:avLst/>
            <a:gdLst/>
            <a:ahLst/>
            <a:cxnLst/>
            <a:rect l="l" t="t" r="r" b="b"/>
            <a:pathLst>
              <a:path w="1925888" h="1925888">
                <a:moveTo>
                  <a:pt x="0" y="0"/>
                </a:moveTo>
                <a:lnTo>
                  <a:pt x="1925888" y="0"/>
                </a:lnTo>
                <a:lnTo>
                  <a:pt x="1925888" y="1925888"/>
                </a:lnTo>
                <a:lnTo>
                  <a:pt x="0" y="1925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514600" y="1925887"/>
            <a:ext cx="6922301" cy="1900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11"/>
              </a:lnSpc>
            </a:pPr>
            <a:r>
              <a:rPr lang="en-US" sz="4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&amp; ACHIEVEMENTS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C91BAB5-CE88-412B-FAD7-72B0E4E57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6133132"/>
            <a:ext cx="4787736" cy="304896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87B6BC6-A7C7-F320-79C6-955ADC8B717F}"/>
              </a:ext>
            </a:extLst>
          </p:cNvPr>
          <p:cNvSpPr txBox="1"/>
          <p:nvPr/>
        </p:nvSpPr>
        <p:spPr>
          <a:xfrm>
            <a:off x="10194794" y="6462786"/>
            <a:ext cx="2971800" cy="2220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Construction Sites</a:t>
            </a:r>
          </a:p>
          <a:p>
            <a:pPr algn="l">
              <a:lnSpc>
                <a:spcPts val="2799"/>
              </a:lnSpc>
            </a:pP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Manufacturing Industries</a:t>
            </a:r>
          </a:p>
          <a:p>
            <a:pPr algn="l">
              <a:lnSpc>
                <a:spcPts val="2799"/>
              </a:lnSpc>
            </a:pP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Warehouses</a:t>
            </a:r>
          </a:p>
          <a:p>
            <a:pPr algn="l">
              <a:lnSpc>
                <a:spcPts val="2799"/>
              </a:lnSpc>
            </a:pP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Industrial Plants</a:t>
            </a:r>
          </a:p>
          <a:p>
            <a:pPr algn="l">
              <a:lnSpc>
                <a:spcPts val="2799"/>
              </a:lnSpc>
            </a:pP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Traffic &amp; Public Safety 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B69D50-ACF8-785E-1A07-6578CA3FCA96}"/>
              </a:ext>
            </a:extLst>
          </p:cNvPr>
          <p:cNvSpPr txBox="1"/>
          <p:nvPr/>
        </p:nvSpPr>
        <p:spPr>
          <a:xfrm>
            <a:off x="1143000" y="5783432"/>
            <a:ext cx="9144000" cy="1032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94"/>
              </a:lnSpc>
            </a:pPr>
            <a:endParaRPr lang="en-US" sz="18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660F6A2B-984A-8D96-1183-194C6572CFC3}"/>
              </a:ext>
            </a:extLst>
          </p:cNvPr>
          <p:cNvSpPr txBox="1"/>
          <p:nvPr/>
        </p:nvSpPr>
        <p:spPr>
          <a:xfrm>
            <a:off x="1524000" y="5998198"/>
            <a:ext cx="6019800" cy="956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11"/>
              </a:lnSpc>
            </a:pPr>
            <a:r>
              <a:rPr lang="en-US" sz="6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50621" y="764048"/>
            <a:ext cx="608679" cy="608679"/>
            <a:chOff x="0" y="0"/>
            <a:chExt cx="285198" cy="2851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198" cy="285198"/>
            </a:xfrm>
            <a:custGeom>
              <a:avLst/>
              <a:gdLst/>
              <a:ahLst/>
              <a:cxnLst/>
              <a:rect l="l" t="t" r="r" b="b"/>
              <a:pathLst>
                <a:path w="285198" h="285198">
                  <a:moveTo>
                    <a:pt x="142599" y="0"/>
                  </a:moveTo>
                  <a:lnTo>
                    <a:pt x="142599" y="0"/>
                  </a:lnTo>
                  <a:cubicBezTo>
                    <a:pt x="180419" y="0"/>
                    <a:pt x="216689" y="15024"/>
                    <a:pt x="243432" y="41766"/>
                  </a:cubicBezTo>
                  <a:cubicBezTo>
                    <a:pt x="270174" y="68509"/>
                    <a:pt x="285198" y="104779"/>
                    <a:pt x="285198" y="142599"/>
                  </a:cubicBezTo>
                  <a:lnTo>
                    <a:pt x="285198" y="142599"/>
                  </a:lnTo>
                  <a:cubicBezTo>
                    <a:pt x="285198" y="221354"/>
                    <a:pt x="221354" y="285198"/>
                    <a:pt x="142599" y="285198"/>
                  </a:cubicBezTo>
                  <a:lnTo>
                    <a:pt x="142599" y="285198"/>
                  </a:lnTo>
                  <a:cubicBezTo>
                    <a:pt x="63844" y="285198"/>
                    <a:pt x="0" y="221354"/>
                    <a:pt x="0" y="142599"/>
                  </a:cubicBezTo>
                  <a:lnTo>
                    <a:pt x="0" y="142599"/>
                  </a:lnTo>
                  <a:cubicBezTo>
                    <a:pt x="0" y="63844"/>
                    <a:pt x="63844" y="0"/>
                    <a:pt x="1425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85198" cy="342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776207" y="1380250"/>
            <a:ext cx="9223465" cy="9783049"/>
            <a:chOff x="-268608" y="-833885"/>
            <a:chExt cx="2969542" cy="3149704"/>
          </a:xfrm>
        </p:grpSpPr>
        <p:sp>
          <p:nvSpPr>
            <p:cNvPr id="6" name="Freeform 6"/>
            <p:cNvSpPr/>
            <p:nvPr/>
          </p:nvSpPr>
          <p:spPr>
            <a:xfrm>
              <a:off x="-268608" y="-361107"/>
              <a:ext cx="2969542" cy="1995978"/>
            </a:xfrm>
            <a:custGeom>
              <a:avLst/>
              <a:gdLst/>
              <a:ahLst/>
              <a:cxnLst/>
              <a:rect l="l" t="t" r="r" b="b"/>
              <a:pathLst>
                <a:path w="2087865" h="1330915">
                  <a:moveTo>
                    <a:pt x="49441" y="0"/>
                  </a:moveTo>
                  <a:lnTo>
                    <a:pt x="2038424" y="0"/>
                  </a:lnTo>
                  <a:cubicBezTo>
                    <a:pt x="2065730" y="0"/>
                    <a:pt x="2087865" y="22135"/>
                    <a:pt x="2087865" y="49441"/>
                  </a:cubicBezTo>
                  <a:lnTo>
                    <a:pt x="2087865" y="1281474"/>
                  </a:lnTo>
                  <a:cubicBezTo>
                    <a:pt x="2087865" y="1294586"/>
                    <a:pt x="2082656" y="1307162"/>
                    <a:pt x="2073384" y="1316434"/>
                  </a:cubicBezTo>
                  <a:cubicBezTo>
                    <a:pt x="2064112" y="1325706"/>
                    <a:pt x="2051537" y="1330915"/>
                    <a:pt x="2038424" y="1330915"/>
                  </a:cubicBezTo>
                  <a:lnTo>
                    <a:pt x="49441" y="1330915"/>
                  </a:lnTo>
                  <a:cubicBezTo>
                    <a:pt x="22135" y="1330915"/>
                    <a:pt x="0" y="1308779"/>
                    <a:pt x="0" y="1281474"/>
                  </a:cubicBezTo>
                  <a:lnTo>
                    <a:pt x="0" y="49441"/>
                  </a:lnTo>
                  <a:cubicBezTo>
                    <a:pt x="0" y="22135"/>
                    <a:pt x="22135" y="0"/>
                    <a:pt x="494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171701" y="-833885"/>
              <a:ext cx="2672103" cy="3149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r>
                <a:rPr lang="en-IN" sz="2000" dirty="0">
                  <a:solidFill>
                    <a:schemeClr val="bg1"/>
                  </a:solidFill>
                </a:rPr>
                <a:t>• </a:t>
              </a:r>
              <a:r>
                <a:rPr lang="en-IN" sz="2000" b="1" dirty="0">
                  <a:solidFill>
                    <a:schemeClr val="bg1"/>
                  </a:solidFill>
                </a:rPr>
                <a:t>Occlusion &amp; Partial Visibility</a:t>
              </a:r>
              <a:br>
                <a:rPr lang="en-IN" sz="2000" dirty="0">
                  <a:solidFill>
                    <a:schemeClr val="bg1"/>
                  </a:solidFill>
                </a:rPr>
              </a:br>
              <a:r>
                <a:rPr lang="en-IN" sz="2000" dirty="0">
                  <a:solidFill>
                    <a:schemeClr val="bg1"/>
                  </a:solidFill>
                </a:rPr>
                <a:t>Helmet, mask, or vest partially visible hone par detection miss </a:t>
              </a:r>
              <a:r>
                <a:rPr lang="en-IN" sz="2000" dirty="0" err="1">
                  <a:solidFill>
                    <a:schemeClr val="bg1"/>
                  </a:solidFill>
                </a:rPr>
                <a:t>ho</a:t>
              </a:r>
              <a:r>
                <a:rPr lang="en-IN" sz="2000" dirty="0">
                  <a:solidFill>
                    <a:schemeClr val="bg1"/>
                  </a:solidFill>
                </a:rPr>
                <a:t> </a:t>
              </a:r>
              <a:r>
                <a:rPr lang="en-IN" sz="2000" dirty="0" err="1">
                  <a:solidFill>
                    <a:schemeClr val="bg1"/>
                  </a:solidFill>
                </a:rPr>
                <a:t>sakta</a:t>
              </a:r>
              <a:r>
                <a:rPr lang="en-IN" sz="2000" dirty="0">
                  <a:solidFill>
                    <a:schemeClr val="bg1"/>
                  </a:solidFill>
                </a:rPr>
                <a:t> </a:t>
              </a:r>
              <a:r>
                <a:rPr lang="en-IN" sz="2000" dirty="0" err="1">
                  <a:solidFill>
                    <a:schemeClr val="bg1"/>
                  </a:solidFill>
                </a:rPr>
                <a:t>hai</a:t>
              </a:r>
              <a:r>
                <a:rPr lang="en-IN" sz="2000" dirty="0">
                  <a:solidFill>
                    <a:schemeClr val="bg1"/>
                  </a:solidFill>
                </a:rPr>
                <a:t> (side/back view, body overlap).</a:t>
              </a:r>
            </a:p>
            <a:p>
              <a:r>
                <a:rPr lang="en-IN" sz="2000" dirty="0">
                  <a:solidFill>
                    <a:schemeClr val="bg1"/>
                  </a:solidFill>
                </a:rPr>
                <a:t>• </a:t>
              </a:r>
              <a:r>
                <a:rPr lang="en-IN" sz="2000" b="1" dirty="0">
                  <a:solidFill>
                    <a:schemeClr val="bg1"/>
                  </a:solidFill>
                </a:rPr>
                <a:t>Camera Angle &amp; Human Pose Variation</a:t>
              </a:r>
              <a:br>
                <a:rPr lang="en-IN" sz="2000" dirty="0">
                  <a:solidFill>
                    <a:schemeClr val="bg1"/>
                  </a:solidFill>
                </a:rPr>
              </a:br>
              <a:r>
                <a:rPr lang="en-IN" sz="2000" dirty="0">
                  <a:solidFill>
                    <a:schemeClr val="bg1"/>
                  </a:solidFill>
                </a:rPr>
                <a:t>Head tilt, fast movement, or non-frontal poses reduce detection confidence.</a:t>
              </a:r>
            </a:p>
            <a:p>
              <a:r>
                <a:rPr lang="en-IN" sz="2000" dirty="0">
                  <a:solidFill>
                    <a:schemeClr val="bg1"/>
                  </a:solidFill>
                </a:rPr>
                <a:t>• </a:t>
              </a:r>
              <a:r>
                <a:rPr lang="en-IN" sz="2000" b="1" dirty="0">
                  <a:solidFill>
                    <a:schemeClr val="bg1"/>
                  </a:solidFill>
                </a:rPr>
                <a:t>Lighting &amp; Video Quality Issues</a:t>
              </a:r>
              <a:br>
                <a:rPr lang="en-IN" sz="2000" dirty="0">
                  <a:solidFill>
                    <a:schemeClr val="bg1"/>
                  </a:solidFill>
                </a:rPr>
              </a:br>
              <a:r>
                <a:rPr lang="en-IN" sz="2000" dirty="0">
                  <a:solidFill>
                    <a:schemeClr val="bg1"/>
                  </a:solidFill>
                </a:rPr>
                <a:t>Low light, shadows, glare, motion blur, or low-resolution CCTV feeds impact accuracy.</a:t>
              </a:r>
            </a:p>
            <a:p>
              <a:r>
                <a:rPr lang="en-IN" sz="2000" dirty="0">
                  <a:solidFill>
                    <a:schemeClr val="bg1"/>
                  </a:solidFill>
                </a:rPr>
                <a:t>• </a:t>
              </a:r>
              <a:r>
                <a:rPr lang="en-IN" sz="2000" b="1" dirty="0">
                  <a:solidFill>
                    <a:schemeClr val="bg1"/>
                  </a:solidFill>
                </a:rPr>
                <a:t>Visual Similarity Confusion</a:t>
              </a:r>
              <a:br>
                <a:rPr lang="en-IN" sz="2000" dirty="0">
                  <a:solidFill>
                    <a:schemeClr val="bg1"/>
                  </a:solidFill>
                </a:rPr>
              </a:br>
              <a:r>
                <a:rPr lang="en-IN" sz="2000" dirty="0">
                  <a:solidFill>
                    <a:schemeClr val="bg1"/>
                  </a:solidFill>
                </a:rPr>
                <a:t>Cap vs helmet, scarf/beard vs mask, jacket vs safety vest can cause false violations.</a:t>
              </a:r>
            </a:p>
            <a:p>
              <a:r>
                <a:rPr lang="en-IN" sz="2000" dirty="0">
                  <a:solidFill>
                    <a:schemeClr val="bg1"/>
                  </a:solidFill>
                </a:rPr>
                <a:t>• </a:t>
              </a:r>
              <a:r>
                <a:rPr lang="en-IN" sz="2000" b="1" dirty="0">
                  <a:solidFill>
                    <a:schemeClr val="bg1"/>
                  </a:solidFill>
                </a:rPr>
                <a:t>Confidence Threshold Trade-off</a:t>
              </a:r>
              <a:br>
                <a:rPr lang="en-IN" sz="2000" dirty="0">
                  <a:solidFill>
                    <a:schemeClr val="bg1"/>
                  </a:solidFill>
                </a:rPr>
              </a:br>
              <a:r>
                <a:rPr lang="en-IN" sz="2000" dirty="0">
                  <a:solidFill>
                    <a:schemeClr val="bg1"/>
                  </a:solidFill>
                </a:rPr>
                <a:t>Lower threshold → false positives</a:t>
              </a:r>
              <a:br>
                <a:rPr lang="en-IN" sz="2000" dirty="0">
                  <a:solidFill>
                    <a:schemeClr val="bg1"/>
                  </a:solidFill>
                </a:rPr>
              </a:br>
              <a:r>
                <a:rPr lang="en-IN" sz="2000" dirty="0">
                  <a:solidFill>
                    <a:schemeClr val="bg1"/>
                  </a:solidFill>
                </a:rPr>
                <a:t>Higher threshold → missed violations</a:t>
              </a:r>
              <a:br>
                <a:rPr lang="en-IN" sz="2000" dirty="0">
                  <a:solidFill>
                    <a:schemeClr val="bg1"/>
                  </a:solidFill>
                </a:rPr>
              </a:br>
              <a:r>
                <a:rPr lang="en-IN" sz="2000" dirty="0">
                  <a:solidFill>
                    <a:schemeClr val="bg1"/>
                  </a:solidFill>
                </a:rPr>
                <a:t>(System uses balanced thresholding)</a:t>
              </a:r>
            </a:p>
            <a:p>
              <a:r>
                <a:rPr lang="en-IN" sz="2000" dirty="0">
                  <a:solidFill>
                    <a:schemeClr val="bg1"/>
                  </a:solidFill>
                </a:rPr>
                <a:t>• </a:t>
              </a:r>
              <a:r>
                <a:rPr lang="en-IN" sz="2000" b="1" dirty="0">
                  <a:solidFill>
                    <a:schemeClr val="bg1"/>
                  </a:solidFill>
                </a:rPr>
                <a:t>Single-Frame vs Real-World Decision Making</a:t>
              </a:r>
              <a:br>
                <a:rPr lang="en-IN" sz="2000" dirty="0">
                  <a:solidFill>
                    <a:schemeClr val="bg1"/>
                  </a:solidFill>
                </a:rPr>
              </a:br>
              <a:r>
                <a:rPr lang="en-IN" sz="2000" dirty="0">
                  <a:solidFill>
                    <a:schemeClr val="bg1"/>
                  </a:solidFill>
                </a:rPr>
                <a:t>Real deployments require trend-based analysis rather than decisions from a single frame.</a:t>
              </a:r>
            </a:p>
            <a:p>
              <a:pPr algn="l">
                <a:lnSpc>
                  <a:spcPts val="2799"/>
                </a:lnSpc>
              </a:pPr>
              <a:endParaRPr lang="en-US" sz="1999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2799"/>
                </a:lnSpc>
              </a:pPr>
              <a:endParaRPr lang="en-US" sz="1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68556" y="7663380"/>
            <a:ext cx="881574" cy="88157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908619" y="5143500"/>
            <a:ext cx="625825" cy="62582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934954" y="1372727"/>
            <a:ext cx="321025" cy="32102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0" y="-72808"/>
            <a:ext cx="1600200" cy="1736464"/>
          </a:xfrm>
          <a:custGeom>
            <a:avLst/>
            <a:gdLst/>
            <a:ahLst/>
            <a:cxnLst/>
            <a:rect l="l" t="t" r="r" b="b"/>
            <a:pathLst>
              <a:path w="1911186" h="1911186">
                <a:moveTo>
                  <a:pt x="0" y="0"/>
                </a:moveTo>
                <a:lnTo>
                  <a:pt x="1911186" y="0"/>
                </a:lnTo>
                <a:lnTo>
                  <a:pt x="1911186" y="1911187"/>
                </a:lnTo>
                <a:lnTo>
                  <a:pt x="0" y="1911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54026" y="4045038"/>
            <a:ext cx="2876248" cy="2912702"/>
          </a:xfrm>
          <a:custGeom>
            <a:avLst/>
            <a:gdLst/>
            <a:ahLst/>
            <a:cxnLst/>
            <a:rect l="l" t="t" r="r" b="b"/>
            <a:pathLst>
              <a:path w="2876248" h="2912702">
                <a:moveTo>
                  <a:pt x="0" y="0"/>
                </a:moveTo>
                <a:lnTo>
                  <a:pt x="2876248" y="0"/>
                </a:lnTo>
                <a:lnTo>
                  <a:pt x="2876248" y="2912702"/>
                </a:lnTo>
                <a:lnTo>
                  <a:pt x="0" y="2912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23" r="-195868" b="-100000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509343" y="5501389"/>
            <a:ext cx="2722955" cy="2602778"/>
          </a:xfrm>
          <a:custGeom>
            <a:avLst/>
            <a:gdLst/>
            <a:ahLst/>
            <a:cxnLst/>
            <a:rect l="l" t="t" r="r" b="b"/>
            <a:pathLst>
              <a:path w="2722955" h="2602778">
                <a:moveTo>
                  <a:pt x="0" y="0"/>
                </a:moveTo>
                <a:lnTo>
                  <a:pt x="2722956" y="0"/>
                </a:lnTo>
                <a:lnTo>
                  <a:pt x="2722956" y="2602778"/>
                </a:lnTo>
                <a:lnTo>
                  <a:pt x="0" y="2602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9877" b="-88225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911188" y="1173965"/>
            <a:ext cx="13786012" cy="2214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4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DETECTION LIMITATIONS &amp; REAL WORLD CHALLENGES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45599" y="1547761"/>
            <a:ext cx="20590236" cy="205902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9645599" y="4004114"/>
            <a:ext cx="10483567" cy="8229600"/>
          </a:xfrm>
          <a:custGeom>
            <a:avLst/>
            <a:gdLst/>
            <a:ahLst/>
            <a:cxnLst/>
            <a:rect l="l" t="t" r="r" b="b"/>
            <a:pathLst>
              <a:path w="10483567" h="8229600">
                <a:moveTo>
                  <a:pt x="10483566" y="0"/>
                </a:moveTo>
                <a:lnTo>
                  <a:pt x="0" y="0"/>
                </a:lnTo>
                <a:lnTo>
                  <a:pt x="0" y="8229600"/>
                </a:lnTo>
                <a:lnTo>
                  <a:pt x="10483566" y="8229600"/>
                </a:lnTo>
                <a:lnTo>
                  <a:pt x="10483566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2035" y="2014205"/>
            <a:ext cx="321025" cy="32102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96188" y="2529803"/>
            <a:ext cx="881574" cy="88157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240E3D">
                      <a:alpha val="100000"/>
                    </a:srgbClr>
                  </a:gs>
                  <a:gs pos="100000">
                    <a:srgbClr val="69008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574470" y="442563"/>
            <a:ext cx="625825" cy="62582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-25352" y="-25352"/>
            <a:ext cx="2108104" cy="2108104"/>
          </a:xfrm>
          <a:custGeom>
            <a:avLst/>
            <a:gdLst/>
            <a:ahLst/>
            <a:cxnLst/>
            <a:rect l="l" t="t" r="r" b="b"/>
            <a:pathLst>
              <a:path w="2108104" h="2108104">
                <a:moveTo>
                  <a:pt x="0" y="0"/>
                </a:moveTo>
                <a:lnTo>
                  <a:pt x="2108104" y="0"/>
                </a:lnTo>
                <a:lnTo>
                  <a:pt x="2108104" y="2108104"/>
                </a:lnTo>
                <a:lnTo>
                  <a:pt x="0" y="21081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86270" y="4858587"/>
            <a:ext cx="7530328" cy="514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SafetyEye successfully automates PPE compliance monitoring using AI and computer vision.</a:t>
            </a:r>
          </a:p>
          <a:p>
            <a:pPr algn="just">
              <a:lnSpc>
                <a:spcPts val="3400"/>
              </a:lnSpc>
            </a:pPr>
            <a:endParaRPr lang="en-US"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improves workplace safety, reduces manual effort, and provides real-time insights through analytics such as heatmaps, occupancy count, and compliance scores.</a:t>
            </a:r>
          </a:p>
          <a:p>
            <a:pPr algn="just">
              <a:lnSpc>
                <a:spcPts val="3400"/>
              </a:lnSpc>
            </a:pPr>
            <a:endParaRPr lang="en-US"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enhancements include multi-camera tracking, cloud deployment, IoT integration, predictive analytics, and advanced alert systems.</a:t>
            </a:r>
          </a:p>
          <a:p>
            <a:pPr algn="just">
              <a:lnSpc>
                <a:spcPts val="3400"/>
              </a:lnSpc>
            </a:pPr>
            <a:endParaRPr lang="en-US"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6954960" y="2335230"/>
            <a:ext cx="909013" cy="965919"/>
            <a:chOff x="0" y="0"/>
            <a:chExt cx="212544" cy="2258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2544" cy="225849"/>
            </a:xfrm>
            <a:custGeom>
              <a:avLst/>
              <a:gdLst/>
              <a:ahLst/>
              <a:cxnLst/>
              <a:rect l="l" t="t" r="r" b="b"/>
              <a:pathLst>
                <a:path w="212544" h="225849">
                  <a:moveTo>
                    <a:pt x="106272" y="0"/>
                  </a:moveTo>
                  <a:lnTo>
                    <a:pt x="106272" y="0"/>
                  </a:lnTo>
                  <a:cubicBezTo>
                    <a:pt x="164964" y="0"/>
                    <a:pt x="212544" y="47580"/>
                    <a:pt x="212544" y="106272"/>
                  </a:cubicBezTo>
                  <a:lnTo>
                    <a:pt x="212544" y="119578"/>
                  </a:lnTo>
                  <a:cubicBezTo>
                    <a:pt x="212544" y="178270"/>
                    <a:pt x="164964" y="225849"/>
                    <a:pt x="106272" y="225849"/>
                  </a:cubicBezTo>
                  <a:lnTo>
                    <a:pt x="106272" y="225849"/>
                  </a:lnTo>
                  <a:cubicBezTo>
                    <a:pt x="47580" y="225849"/>
                    <a:pt x="0" y="178270"/>
                    <a:pt x="0" y="119578"/>
                  </a:cubicBezTo>
                  <a:lnTo>
                    <a:pt x="0" y="106272"/>
                  </a:lnTo>
                  <a:cubicBezTo>
                    <a:pt x="0" y="47580"/>
                    <a:pt x="47580" y="0"/>
                    <a:pt x="10627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212544" cy="282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41219" y="2572326"/>
            <a:ext cx="571921" cy="57192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40E3D">
                    <a:alpha val="100000"/>
                  </a:srgbClr>
                </a:gs>
                <a:gs pos="100000">
                  <a:srgbClr val="69008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368054" y="1446351"/>
            <a:ext cx="10697088" cy="196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1"/>
              </a:lnSpc>
            </a:pPr>
            <a:r>
              <a:rPr lang="en-US" sz="6954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&amp; FUTURE SCOPE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64675" y="2756356"/>
            <a:ext cx="9854533" cy="1572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71"/>
              </a:lnSpc>
            </a:pPr>
            <a:r>
              <a:rPr lang="en-US" sz="1062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1522" y="4407983"/>
            <a:ext cx="4956842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 spc="8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YOUR ATTENTION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959</Words>
  <Application>Microsoft Office PowerPoint</Application>
  <PresentationFormat>Custom</PresentationFormat>
  <Paragraphs>119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Poppins</vt:lpstr>
      <vt:lpstr>Calibri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Purple Gradient Modern Artificial Intelligence Presentation</dc:title>
  <dc:creator>Ojaswi Ambare</dc:creator>
  <cp:lastModifiedBy>Ojaswi Ambare</cp:lastModifiedBy>
  <cp:revision>9</cp:revision>
  <dcterms:created xsi:type="dcterms:W3CDTF">2006-08-16T00:00:00Z</dcterms:created>
  <dcterms:modified xsi:type="dcterms:W3CDTF">2025-12-28T06:49:50Z</dcterms:modified>
  <dc:identifier>DAG8qkjhAgM</dc:identifier>
</cp:coreProperties>
</file>